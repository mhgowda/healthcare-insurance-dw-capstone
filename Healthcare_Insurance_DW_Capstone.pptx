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4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24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image" Target="../media/image5.png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5" Type="http://schemas.openxmlformats.org/officeDocument/2006/relationships/slideLayout" Target="../slideLayouts/slideLayout7.xml"/><Relationship Id="rId24" Type="http://schemas.openxmlformats.org/officeDocument/2006/relationships/image" Target="../media/image8.png"/><Relationship Id="rId23" Type="http://schemas.openxmlformats.org/officeDocument/2006/relationships/tags" Target="../tags/tag20.xml"/><Relationship Id="rId22" Type="http://schemas.openxmlformats.org/officeDocument/2006/relationships/tags" Target="../tags/tag19.xml"/><Relationship Id="rId21" Type="http://schemas.openxmlformats.org/officeDocument/2006/relationships/tags" Target="../tags/tag18.xml"/><Relationship Id="rId20" Type="http://schemas.openxmlformats.org/officeDocument/2006/relationships/tags" Target="../tags/tag17.xml"/><Relationship Id="rId2" Type="http://schemas.openxmlformats.org/officeDocument/2006/relationships/tags" Target="../tags/tag2.xml"/><Relationship Id="rId19" Type="http://schemas.openxmlformats.org/officeDocument/2006/relationships/tags" Target="../tags/tag16.xml"/><Relationship Id="rId18" Type="http://schemas.openxmlformats.org/officeDocument/2006/relationships/image" Target="../media/image7.png"/><Relationship Id="rId17" Type="http://schemas.openxmlformats.org/officeDocument/2006/relationships/tags" Target="../tags/tag15.xml"/><Relationship Id="rId16" Type="http://schemas.openxmlformats.org/officeDocument/2006/relationships/tags" Target="../tags/tag14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image" Target="../media/image6.png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32.xml"/><Relationship Id="rId11" Type="http://schemas.openxmlformats.org/officeDocument/2006/relationships/tags" Target="../tags/tag31.xml"/><Relationship Id="rId10" Type="http://schemas.openxmlformats.org/officeDocument/2006/relationships/tags" Target="../tags/tag30.xml"/><Relationship Id="rId1" Type="http://schemas.openxmlformats.org/officeDocument/2006/relationships/tags" Target="../tags/tag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0"/>
            <a:ext cx="2130552" cy="685800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FA5"/>
                </a:solidFill>
              </a:rPr>
              <a:t>MIDTERM CAPSTONE PROJECT</a:t>
            </a:r>
            <a:endParaRPr sz="1200" b="1" i="0">
              <a:solidFill>
                <a:srgbClr val="00BFA5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9418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Healthcare Insurance</a:t>
            </a:r>
            <a:endParaRPr sz="52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0" i="0">
                <a:solidFill>
                  <a:srgbClr val="BBD6F5"/>
                </a:solidFill>
              </a:rPr>
              <a:t>Claims Data Warehouse</a:t>
            </a:r>
            <a:endParaRPr sz="4600" b="0" i="0">
              <a:solidFill>
                <a:srgbClr val="BBD6F5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3182112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BBD6F5"/>
                </a:solidFill>
              </a:rPr>
              <a:t>&amp; Analytics Platform</a:t>
            </a:r>
            <a:endParaRPr sz="3600" b="0" i="0">
              <a:solidFill>
                <a:srgbClr val="BBD6F5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4160520"/>
            <a:ext cx="68580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29768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5F77"/>
                </a:solidFill>
              </a:rPr>
              <a:t>SQL  |  Python  |  ETL Pipeline  |  Star Schema  |  Data Masking  |  Visualization</a:t>
            </a:r>
            <a:endParaRPr sz="1400" b="0" i="0">
              <a:solidFill>
                <a:srgbClr val="555F77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4937760"/>
            <a:ext cx="45720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Group 5  |  Batch 202</a:t>
            </a:r>
            <a:r>
              <a:rPr lang="en-US" sz="1300" b="0" i="0">
                <a:solidFill>
                  <a:srgbClr val="FFFFFF"/>
                </a:solidFill>
              </a:rPr>
              <a:t>6</a:t>
            </a:r>
            <a:endParaRPr lang="en-US" sz="1300" b="0" i="0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5349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7"/>
                </a:solidFill>
              </a:rPr>
              <a:t>Midterm Capstone</a:t>
            </a:r>
            <a:endParaRPr sz="1200" b="0" i="0">
              <a:solidFill>
                <a:srgbClr val="555F77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11887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B300"/>
                </a:solidFill>
              </a:rPr>
              <a:t>1.4M</a:t>
            </a:r>
            <a:endParaRPr sz="3200" b="1" i="0">
              <a:solidFill>
                <a:srgbClr val="FFB300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241280" y="1828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6F5"/>
                </a:solidFill>
              </a:rPr>
              <a:t>Source Rows</a:t>
            </a:r>
            <a:endParaRPr sz="1100" b="0" i="0">
              <a:solidFill>
                <a:srgbClr val="BBD6F5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424160" y="2194560"/>
            <a:ext cx="1371600" cy="274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0" y="25603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B300"/>
                </a:solidFill>
              </a:rPr>
              <a:t>9</a:t>
            </a:r>
            <a:endParaRPr sz="3200" b="1" i="0">
              <a:solidFill>
                <a:srgbClr val="FFB3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241280" y="3200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6F5"/>
                </a:solidFill>
              </a:rPr>
              <a:t>DW Tables</a:t>
            </a:r>
            <a:endParaRPr sz="1100" b="0" i="0">
              <a:solidFill>
                <a:srgbClr val="BBD6F5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0424160" y="3566160"/>
            <a:ext cx="1371600" cy="274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0" y="39319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B300"/>
                </a:solidFill>
              </a:rPr>
              <a:t>8</a:t>
            </a:r>
            <a:endParaRPr sz="3200" b="1" i="0">
              <a:solidFill>
                <a:srgbClr val="FFB30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241280" y="4572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6F5"/>
                </a:solidFill>
              </a:rPr>
              <a:t>Charts</a:t>
            </a:r>
            <a:endParaRPr sz="1100" b="0" i="0">
              <a:solidFill>
                <a:srgbClr val="BBD6F5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0424160" y="4937760"/>
            <a:ext cx="1371600" cy="274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Project Overview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End-to-end healthcare insurance claims data warehouse solution</a:t>
            </a:r>
            <a:endParaRPr sz="1200" b="0" i="0">
              <a:solidFill>
                <a:srgbClr val="BBD6F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868680"/>
            <a:ext cx="11640312" cy="1417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868680"/>
            <a:ext cx="91440" cy="141732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914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FC4"/>
                </a:solidFill>
              </a:rPr>
              <a:t>Business Scenario</a:t>
            </a:r>
            <a:endParaRPr sz="1300" b="1" i="0">
              <a:solidFill>
                <a:srgbClr val="1A6FC4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261872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1A2E"/>
                </a:solidFill>
              </a:rPr>
              <a:t>A national health insurer needs a centralized Data Warehouse to analyze claims costs, utilisation, provider performance and fraud indicators — while fully protecting patient privacy (PII/PHI). Source data arrives as 7 CSV files with ~1.4 million rows containing intentional quality issues including missing values, orphan foreign keys, and type mismatches.</a:t>
            </a:r>
            <a:endParaRPr sz="1200" b="0" i="0">
              <a:solidFill>
                <a:srgbClr val="121A2E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74320" y="2468880"/>
            <a:ext cx="2834640" cy="19202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468880"/>
            <a:ext cx="283464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249631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1</a:t>
            </a:r>
            <a:endParaRPr sz="2000" b="1" i="0">
              <a:solidFill>
                <a:srgbClr val="FFFFFF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2959" y="249631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Star Schema
Design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84048" y="31089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F6FF"/>
                </a:solidFill>
              </a:rPr>
              <a:t>Model a DW with
dims + facts</a:t>
            </a:r>
            <a:endParaRPr sz="1100" b="0" i="0">
              <a:solidFill>
                <a:srgbClr val="EEF6FF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246120" y="2468880"/>
            <a:ext cx="2834640" cy="192024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46120" y="2468880"/>
            <a:ext cx="283464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249631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2</a:t>
            </a:r>
            <a:endParaRPr sz="2000" b="1" i="0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794759" y="249631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ETL Pipeline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355848" y="31089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F6FF"/>
                </a:solidFill>
              </a:rPr>
              <a:t>Full + Incremental
load with audit logs</a:t>
            </a:r>
            <a:endParaRPr sz="1100" b="0" i="0">
              <a:solidFill>
                <a:srgbClr val="EEF6FF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17920" y="2468880"/>
            <a:ext cx="2834640" cy="19202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283464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8" y="249631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3</a:t>
            </a:r>
            <a:endParaRPr sz="2000" b="1" i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766559" y="249631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 Masking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27648" y="31089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F6FF"/>
                </a:solidFill>
              </a:rPr>
              <a:t>Protect PII/PHI
preserve join keys</a:t>
            </a:r>
            <a:endParaRPr sz="1100" b="0" i="0">
              <a:solidFill>
                <a:srgbClr val="EEF6FF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189720" y="2468880"/>
            <a:ext cx="2834640" cy="192024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89720" y="2468880"/>
            <a:ext cx="283464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99448" y="249631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4</a:t>
            </a:r>
            <a:endParaRPr sz="2000" b="1" i="0">
              <a:solidFill>
                <a:srgbClr val="FFFFFF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738360" y="249631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Analytics
&amp; Charts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299448" y="31089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F6FF"/>
                </a:solidFill>
              </a:rPr>
              <a:t>SQL + Python +
8 Matplotlib charts</a:t>
            </a:r>
            <a:endParaRPr sz="1100" b="0" i="0">
              <a:solidFill>
                <a:srgbClr val="EEF6FF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74320" y="46177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Technologies:</a:t>
            </a:r>
            <a:endParaRPr sz="1200" b="1" i="0">
              <a:solidFill>
                <a:srgbClr val="0D1B3E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274320" y="5010912"/>
            <a:ext cx="2240280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Python 3.10+</a:t>
            </a:r>
            <a:endParaRPr sz="1200" b="1" i="0">
              <a:solidFill>
                <a:srgbClr val="FFFFFF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633472" y="5010912"/>
            <a:ext cx="2240280" cy="50292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0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Pandas</a:t>
            </a:r>
            <a:endParaRPr sz="1200" b="1" i="0">
              <a:solidFill>
                <a:srgbClr val="FFFFFF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992624" y="5010912"/>
            <a:ext cx="2240280" cy="50292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02352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SQLite / SQL</a:t>
            </a:r>
            <a:endParaRPr sz="1200" b="1" i="0">
              <a:solidFill>
                <a:srgbClr val="FFFFFF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351776" y="5010912"/>
            <a:ext cx="2240280" cy="5029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61504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Matplotlib</a:t>
            </a:r>
            <a:endParaRPr sz="1200" b="1" i="0">
              <a:solidFill>
                <a:srgbClr val="FFFFFF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9710928" y="5010912"/>
            <a:ext cx="2240280" cy="5029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20656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Jupyter Notebook</a:t>
            </a:r>
            <a:endParaRPr sz="1200" b="1" i="0">
              <a:solidFill>
                <a:srgbClr val="FFFFFF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74320" y="56692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7"/>
                </a:solidFill>
              </a:rPr>
              <a:t>Dataset: 7 CSV files  |  ~1.4 Million rows  |  1.2M clean + 0.2M intentionally imperfect</a:t>
            </a:r>
            <a:endParaRPr sz="1100" b="0" i="1">
              <a:solidFill>
                <a:srgbClr val="555F77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Source Data  –  7 CSV Files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OLTP-style extracts from the insurance system</a:t>
            </a:r>
            <a:endParaRPr sz="1200" b="0" i="0">
              <a:solidFill>
                <a:srgbClr val="BBD6F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22960"/>
            <a:ext cx="262432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859536"/>
            <a:ext cx="250545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CSV File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834640" y="822960"/>
            <a:ext cx="289864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7792" y="859536"/>
            <a:ext cx="277977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Description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760720" y="822960"/>
            <a:ext cx="97840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3872" y="859536"/>
            <a:ext cx="85953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Rows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766560" y="822960"/>
            <a:ext cx="161848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39712" y="859536"/>
            <a:ext cx="149961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Primary Key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412480" y="822960"/>
            <a:ext cx="317296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859536"/>
            <a:ext cx="305409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Key Columns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82880" y="1234440"/>
            <a:ext cx="262432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032" y="1271016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members_merged.csv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834640" y="1234440"/>
            <a:ext cx="289864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1271016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Patient/member master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760720" y="1234440"/>
            <a:ext cx="97840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33872" y="1271016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2,60,000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766560" y="1234440"/>
            <a:ext cx="161848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9712" y="1271016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member_id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8412480" y="1234440"/>
            <a:ext cx="31729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5632" y="1271016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name, DOB, email, phone, city, state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182880" y="1728216"/>
            <a:ext cx="262432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" y="1764792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providers_merged.csv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834640" y="1728216"/>
            <a:ext cx="289864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07792" y="1764792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Doctors and hospitals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5760720" y="1728216"/>
            <a:ext cx="97840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1764792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40,000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766560" y="1728216"/>
            <a:ext cx="161848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39712" y="1764792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provider_id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8412480" y="1728216"/>
            <a:ext cx="317296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85632" y="1764792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specialty, city, state, tax_id, license_no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82880" y="2221992"/>
            <a:ext cx="262432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032" y="2258568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claims_merged.csv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834640" y="2221992"/>
            <a:ext cx="289864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07792" y="2258568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Insurance claim headers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760720" y="2221992"/>
            <a:ext cx="97840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33872" y="2258568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2,40,000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766560" y="2221992"/>
            <a:ext cx="161848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39712" y="2258568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8412480" y="2221992"/>
            <a:ext cx="31729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85632" y="2258568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member_id, provider_id, admit_date, paid_amount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82880" y="2715768"/>
            <a:ext cx="262432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032" y="2752344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claim_lines_merged.csv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2834640" y="2715768"/>
            <a:ext cx="289864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07792" y="2752344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Services inside each claim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5760720" y="2715768"/>
            <a:ext cx="97840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33872" y="2752344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7,60,000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6766560" y="2715768"/>
            <a:ext cx="161848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39712" y="2752344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line_id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8412480" y="2715768"/>
            <a:ext cx="317296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85632" y="2752344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claim_number, procedure_code, units, rate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182880" y="3209544"/>
            <a:ext cx="262432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6032" y="3246120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payments_merged.csv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2834640" y="3209544"/>
            <a:ext cx="289864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07792" y="3246120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Payments on claims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5760720" y="3209544"/>
            <a:ext cx="97840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33872" y="3246120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1,00,000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6766560" y="3209544"/>
            <a:ext cx="161848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39712" y="3246120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payment_id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8412480" y="3209544"/>
            <a:ext cx="31729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85632" y="3246120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claim_number, payment_date, paid_amount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182880" y="3703320"/>
            <a:ext cx="262432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6032" y="3739896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diagnoses_merged.csv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2834640" y="3703320"/>
            <a:ext cx="289864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07792" y="3739896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ICD diagnosis codes per claim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5760720" y="3703320"/>
            <a:ext cx="97840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833872" y="3739896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60,000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6766560" y="3703320"/>
            <a:ext cx="161848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39712" y="3739896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diag_id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8412480" y="3703320"/>
            <a:ext cx="317296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85632" y="3739896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claim_number, diagnosis_code, icd_version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182880" y="4197096"/>
            <a:ext cx="262432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56032" y="4233672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procedures_merged.csv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2834640" y="4197096"/>
            <a:ext cx="289864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07792" y="4233672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CPT codes per claim line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5760720" y="4197096"/>
            <a:ext cx="97840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833872" y="4233672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40,000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6766560" y="4197096"/>
            <a:ext cx="161848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839712" y="4233672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proc_id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8412480" y="4197096"/>
            <a:ext cx="31729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85632" y="4233672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line_id, procedure_code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182880" y="4709160"/>
            <a:ext cx="262432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56032" y="4745736"/>
            <a:ext cx="250545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TOTAL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2834640" y="4709160"/>
            <a:ext cx="289864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07792" y="4745736"/>
            <a:ext cx="277977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7 source entities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5760720" y="4709160"/>
            <a:ext cx="97840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833872" y="4745736"/>
            <a:ext cx="85953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~14,00,000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6766560" y="4709160"/>
            <a:ext cx="161848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39712" y="4745736"/>
            <a:ext cx="149961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—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8412480" y="4709160"/>
            <a:ext cx="317296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85632" y="4745736"/>
            <a:ext cx="30540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1.2M clean + 0.2M imperfect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182880" y="5321808"/>
            <a:ext cx="3840480" cy="47548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92608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Missing Values: blank/NULL fields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4160520" y="5321808"/>
            <a:ext cx="3840480" cy="47548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270248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Orphan FKs: __ORPHAN__ marker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102" name="Rectangle 101"/>
          <p:cNvSpPr/>
          <p:nvPr/>
        </p:nvSpPr>
        <p:spPr>
          <a:xfrm>
            <a:off x="8138159" y="5321808"/>
            <a:ext cx="3840480" cy="47548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247887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Negative Amounts: invalid numbers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182880" y="5870448"/>
            <a:ext cx="3840480" cy="475488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92608" y="5943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Future Dates: impossible timestamps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106" name="Rectangle 105"/>
          <p:cNvSpPr/>
          <p:nvPr/>
        </p:nvSpPr>
        <p:spPr>
          <a:xfrm>
            <a:off x="4160520" y="5870448"/>
            <a:ext cx="3840480" cy="47548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270248" y="5943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Duplicate Keys: repeated IDs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8138159" y="5870448"/>
            <a:ext cx="384048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247887" y="5943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Type Mismatches: text in numbers</a:t>
            </a:r>
            <a:endParaRPr sz="1000" b="1" i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Entity Relationship Diagram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Source system relationships before warehouse transformation</a:t>
            </a:r>
            <a:endParaRPr sz="1200" b="0" i="0">
              <a:solidFill>
                <a:srgbClr val="BBD6F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" y="841248"/>
            <a:ext cx="2651760" cy="34747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877824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MEMBERS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37160" y="1188720"/>
            <a:ext cx="2651760" cy="237744"/>
          </a:xfrm>
          <a:prstGeom prst="rect">
            <a:avLst/>
          </a:prstGeom>
          <a:solidFill>
            <a:srgbClr val="FFF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" y="1188720"/>
            <a:ext cx="265176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1225296"/>
            <a:ext cx="256032" cy="16459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1216152"/>
            <a:ext cx="256032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PK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4632" y="1225296"/>
            <a:ext cx="21488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member_id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828799" y="1225296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37160" y="1435608"/>
            <a:ext cx="265176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435608"/>
            <a:ext cx="265176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1472184"/>
            <a:ext cx="21488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first_name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828799" y="1472184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37160" y="1682496"/>
            <a:ext cx="265176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" y="1682496"/>
            <a:ext cx="265176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" y="1719072"/>
            <a:ext cx="21488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email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828799" y="1719072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37160" y="1929384"/>
            <a:ext cx="265176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7160" y="1929384"/>
            <a:ext cx="265176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" y="1965960"/>
            <a:ext cx="21488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phone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828799" y="1965960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137160" y="2176272"/>
            <a:ext cx="265176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37160" y="2176272"/>
            <a:ext cx="265176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2212848"/>
            <a:ext cx="21488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dob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828799" y="2212848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DATE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37160" y="2423160"/>
            <a:ext cx="265176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7160" y="2423160"/>
            <a:ext cx="265176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" y="2459736"/>
            <a:ext cx="21488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city / state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828799" y="2459736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37160" y="2670048"/>
            <a:ext cx="265176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7160" y="2670048"/>
            <a:ext cx="265176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" y="2706624"/>
            <a:ext cx="21488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is_active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828799" y="2706624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BOOLEAN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37160" y="3703320"/>
            <a:ext cx="2651760" cy="34747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8600" y="3739896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PROVIDERS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137160" y="4050791"/>
            <a:ext cx="2651760" cy="237744"/>
          </a:xfrm>
          <a:prstGeom prst="rect">
            <a:avLst/>
          </a:prstGeom>
          <a:solidFill>
            <a:srgbClr val="FFF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37160" y="4050791"/>
            <a:ext cx="265176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82880" y="4087368"/>
            <a:ext cx="256032" cy="16459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2880" y="4078224"/>
            <a:ext cx="256032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PK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84632" y="4087368"/>
            <a:ext cx="21488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provider_id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828799" y="4087368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37160" y="4297679"/>
            <a:ext cx="265176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37160" y="4297679"/>
            <a:ext cx="265176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4632" y="4334256"/>
            <a:ext cx="21488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provider_name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828799" y="4334256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37160" y="4544568"/>
            <a:ext cx="265176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37160" y="4544568"/>
            <a:ext cx="265176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" y="4581144"/>
            <a:ext cx="21488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specialty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828799" y="4581144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37160" y="4791456"/>
            <a:ext cx="265176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37160" y="4791456"/>
            <a:ext cx="265176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4632" y="4828031"/>
            <a:ext cx="21488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city / state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828799" y="4828031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37160" y="5038344"/>
            <a:ext cx="265176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37160" y="5038344"/>
            <a:ext cx="265176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4632" y="5074920"/>
            <a:ext cx="21488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tax_id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828799" y="5074920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137160" y="5285231"/>
            <a:ext cx="265176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37160" y="5285231"/>
            <a:ext cx="265176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4632" y="5321808"/>
            <a:ext cx="21488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license_no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828799" y="5321808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3063240" y="841248"/>
            <a:ext cx="2834640" cy="34747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54680" y="8778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CLAIMS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3063240" y="1188720"/>
            <a:ext cx="2834640" cy="237744"/>
          </a:xfrm>
          <a:prstGeom prst="rect">
            <a:avLst/>
          </a:prstGeom>
          <a:solidFill>
            <a:srgbClr val="FFF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63240" y="1188720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108960" y="1225296"/>
            <a:ext cx="256032" cy="16459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108960" y="1216152"/>
            <a:ext cx="256032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PK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410712" y="1225296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claim_number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4937760" y="1225296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3063240" y="1435608"/>
            <a:ext cx="2834640" cy="237744"/>
          </a:xfrm>
          <a:prstGeom prst="rect">
            <a:avLst/>
          </a:prstGeom>
          <a:solidFill>
            <a:srgbClr val="FF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063240" y="1435608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108960" y="1472184"/>
            <a:ext cx="256032" cy="16459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08960" y="1463040"/>
            <a:ext cx="256032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FK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410712" y="1472184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member_id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937760" y="1472184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3063240" y="1682496"/>
            <a:ext cx="2834640" cy="237744"/>
          </a:xfrm>
          <a:prstGeom prst="rect">
            <a:avLst/>
          </a:prstGeom>
          <a:solidFill>
            <a:srgbClr val="FF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63240" y="1682496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108960" y="1719072"/>
            <a:ext cx="256032" cy="16459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08960" y="1709928"/>
            <a:ext cx="256032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FK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3410712" y="1719072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provider_id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937760" y="1719072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3063240" y="1929384"/>
            <a:ext cx="283464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063240" y="1929384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10712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admit_date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4937760" y="1965960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DATE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3063240" y="2176272"/>
            <a:ext cx="283464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063240" y="2176272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10712" y="2212848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paid_amount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937760" y="2212848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NUMERIC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063240" y="2423160"/>
            <a:ext cx="283464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063240" y="2423160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410712" y="2459736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denial_code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4937760" y="2459736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3063240" y="2670048"/>
            <a:ext cx="283464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063240" y="2670048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10712" y="2706624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length_of_stay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4937760" y="2706624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INT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3063240" y="3154680"/>
            <a:ext cx="2834640" cy="34747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154680" y="319125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CLAIM_LINES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06" name="Rectangle 105"/>
          <p:cNvSpPr/>
          <p:nvPr/>
        </p:nvSpPr>
        <p:spPr>
          <a:xfrm>
            <a:off x="3063240" y="3502152"/>
            <a:ext cx="2834640" cy="237744"/>
          </a:xfrm>
          <a:prstGeom prst="rect">
            <a:avLst/>
          </a:prstGeom>
          <a:solidFill>
            <a:srgbClr val="FFF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063240" y="3502152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108960" y="3538728"/>
            <a:ext cx="256032" cy="16459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108960" y="3529584"/>
            <a:ext cx="256032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PK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3410712" y="3538728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line_id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4937760" y="3538728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3063240" y="3749039"/>
            <a:ext cx="2834640" cy="237744"/>
          </a:xfrm>
          <a:prstGeom prst="rect">
            <a:avLst/>
          </a:prstGeom>
          <a:solidFill>
            <a:srgbClr val="FF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063240" y="3749039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108960" y="3785616"/>
            <a:ext cx="256032" cy="16459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108960" y="3776472"/>
            <a:ext cx="256032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FK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3410712" y="3785616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claim_number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4937760" y="3785616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3063240" y="3995928"/>
            <a:ext cx="283464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063240" y="3995928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410712" y="4032504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procedure_code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4937760" y="4032504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22" name="Rectangle 121"/>
          <p:cNvSpPr/>
          <p:nvPr/>
        </p:nvSpPr>
        <p:spPr>
          <a:xfrm>
            <a:off x="3063240" y="4242816"/>
            <a:ext cx="283464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063240" y="4242816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410712" y="4279392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service_date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4937760" y="4279392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DATE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26" name="Rectangle 125"/>
          <p:cNvSpPr/>
          <p:nvPr/>
        </p:nvSpPr>
        <p:spPr>
          <a:xfrm>
            <a:off x="3063240" y="4489704"/>
            <a:ext cx="283464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063240" y="4489704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410712" y="452628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units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4937760" y="4526280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INT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3063240" y="4736592"/>
            <a:ext cx="283464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063240" y="4736592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410712" y="4773168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rate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4937760" y="4773168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NUMERIC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34" name="Rectangle 133"/>
          <p:cNvSpPr/>
          <p:nvPr/>
        </p:nvSpPr>
        <p:spPr>
          <a:xfrm>
            <a:off x="3063240" y="4983480"/>
            <a:ext cx="283464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063240" y="4983480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410712" y="5020056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line_amount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4937760" y="5020056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NUMERIC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6126480" y="841248"/>
            <a:ext cx="2743200" cy="34747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217920" y="87782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PAYMENTS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6126480" y="1188720"/>
            <a:ext cx="2743200" cy="237744"/>
          </a:xfrm>
          <a:prstGeom prst="rect">
            <a:avLst/>
          </a:prstGeom>
          <a:solidFill>
            <a:srgbClr val="FFF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26480" y="1188720"/>
            <a:ext cx="274320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172200" y="1225296"/>
            <a:ext cx="256032" cy="16459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172200" y="1216152"/>
            <a:ext cx="256032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PK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6473952" y="1225296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payment_id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7909559" y="1225296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6126480" y="1435608"/>
            <a:ext cx="2743200" cy="237744"/>
          </a:xfrm>
          <a:prstGeom prst="rect">
            <a:avLst/>
          </a:prstGeom>
          <a:solidFill>
            <a:srgbClr val="FF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126480" y="1435608"/>
            <a:ext cx="274320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172200" y="1472184"/>
            <a:ext cx="256032" cy="16459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172200" y="1463040"/>
            <a:ext cx="256032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FK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6473952" y="1472184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claim_number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7909559" y="1472184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6126480" y="1682496"/>
            <a:ext cx="274320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126480" y="1682496"/>
            <a:ext cx="274320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473952" y="1719072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payment_date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7909559" y="1719072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DATE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6126480" y="1929384"/>
            <a:ext cx="274320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26480" y="1929384"/>
            <a:ext cx="274320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73952" y="1965960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payment_method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7909559" y="1965960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60" name="Rectangle 159"/>
          <p:cNvSpPr/>
          <p:nvPr/>
        </p:nvSpPr>
        <p:spPr>
          <a:xfrm>
            <a:off x="6126480" y="2176272"/>
            <a:ext cx="274320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126480" y="2176272"/>
            <a:ext cx="274320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473952" y="2212848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paid_amount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7909559" y="2212848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NUMERIC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64" name="Rectangle 163"/>
          <p:cNvSpPr/>
          <p:nvPr/>
        </p:nvSpPr>
        <p:spPr>
          <a:xfrm>
            <a:off x="6126480" y="2423160"/>
            <a:ext cx="274320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26480" y="2423160"/>
            <a:ext cx="274320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73952" y="2459736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adjustment_code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7909559" y="2459736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68" name="Rectangle 167"/>
          <p:cNvSpPr/>
          <p:nvPr/>
        </p:nvSpPr>
        <p:spPr>
          <a:xfrm>
            <a:off x="6126480" y="3154680"/>
            <a:ext cx="2743200" cy="34747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217920" y="3191256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DIAGNOSES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126480" y="3502152"/>
            <a:ext cx="2743200" cy="237744"/>
          </a:xfrm>
          <a:prstGeom prst="rect">
            <a:avLst/>
          </a:prstGeom>
          <a:solidFill>
            <a:srgbClr val="FFF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126480" y="3502152"/>
            <a:ext cx="274320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172200" y="3538728"/>
            <a:ext cx="256032" cy="16459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72200" y="3529584"/>
            <a:ext cx="256032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PK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6473952" y="3538728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diag_id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7909559" y="3538728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76" name="Rectangle 175"/>
          <p:cNvSpPr/>
          <p:nvPr/>
        </p:nvSpPr>
        <p:spPr>
          <a:xfrm>
            <a:off x="6126480" y="3749039"/>
            <a:ext cx="2743200" cy="237744"/>
          </a:xfrm>
          <a:prstGeom prst="rect">
            <a:avLst/>
          </a:prstGeom>
          <a:solidFill>
            <a:srgbClr val="FF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126480" y="3749039"/>
            <a:ext cx="274320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6172200" y="3785616"/>
            <a:ext cx="256032" cy="16459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172200" y="3776472"/>
            <a:ext cx="256032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FK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6473952" y="3785616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claim_number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7909559" y="3785616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82" name="Rectangle 181"/>
          <p:cNvSpPr/>
          <p:nvPr/>
        </p:nvSpPr>
        <p:spPr>
          <a:xfrm>
            <a:off x="6126480" y="3995928"/>
            <a:ext cx="274320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6126480" y="3995928"/>
            <a:ext cx="274320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73952" y="4032504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diagnosis_code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7909559" y="4032504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86" name="Rectangle 185"/>
          <p:cNvSpPr/>
          <p:nvPr/>
        </p:nvSpPr>
        <p:spPr>
          <a:xfrm>
            <a:off x="6126480" y="4242816"/>
            <a:ext cx="274320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6126480" y="4242816"/>
            <a:ext cx="274320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473952" y="4279392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icd_version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7909559" y="4279392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90" name="Rectangle 189"/>
          <p:cNvSpPr/>
          <p:nvPr/>
        </p:nvSpPr>
        <p:spPr>
          <a:xfrm>
            <a:off x="9144000" y="3154680"/>
            <a:ext cx="2834640" cy="34747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9235440" y="319125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PROCEDURES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9144000" y="3502152"/>
            <a:ext cx="2834640" cy="237744"/>
          </a:xfrm>
          <a:prstGeom prst="rect">
            <a:avLst/>
          </a:prstGeom>
          <a:solidFill>
            <a:srgbClr val="FFF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9144000" y="3502152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9189720" y="3538728"/>
            <a:ext cx="256032" cy="16459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9189720" y="3529584"/>
            <a:ext cx="256032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PK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9491472" y="3538728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proc_id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11018519" y="3538728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98" name="Rectangle 197"/>
          <p:cNvSpPr/>
          <p:nvPr/>
        </p:nvSpPr>
        <p:spPr>
          <a:xfrm>
            <a:off x="9144000" y="3749039"/>
            <a:ext cx="2834640" cy="237744"/>
          </a:xfrm>
          <a:prstGeom prst="rect">
            <a:avLst/>
          </a:prstGeom>
          <a:solidFill>
            <a:srgbClr val="FF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9144000" y="3749039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9189720" y="3785616"/>
            <a:ext cx="256032" cy="16459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89720" y="3776472"/>
            <a:ext cx="256032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FK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202" name="TextBox 201"/>
          <p:cNvSpPr txBox="1"/>
          <p:nvPr/>
        </p:nvSpPr>
        <p:spPr>
          <a:xfrm>
            <a:off x="9491472" y="3785616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line_id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203" name="TextBox 202"/>
          <p:cNvSpPr txBox="1"/>
          <p:nvPr/>
        </p:nvSpPr>
        <p:spPr>
          <a:xfrm>
            <a:off x="11018519" y="3785616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204" name="Rectangle 203"/>
          <p:cNvSpPr/>
          <p:nvPr/>
        </p:nvSpPr>
        <p:spPr>
          <a:xfrm>
            <a:off x="9144000" y="3995928"/>
            <a:ext cx="283464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9144000" y="3995928"/>
            <a:ext cx="2834640" cy="2286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9491472" y="4032504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procedure_code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207" name="TextBox 206"/>
          <p:cNvSpPr txBox="1"/>
          <p:nvPr/>
        </p:nvSpPr>
        <p:spPr>
          <a:xfrm>
            <a:off x="11018519" y="4032504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F77"/>
                </a:solidFill>
              </a:rPr>
              <a:t>VARCHAR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208" name="Rectangle 207"/>
          <p:cNvSpPr/>
          <p:nvPr/>
        </p:nvSpPr>
        <p:spPr>
          <a:xfrm>
            <a:off x="2788920" y="1600200"/>
            <a:ext cx="274320" cy="2743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788920" y="4297680"/>
            <a:ext cx="274320" cy="274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816352" y="2011680"/>
            <a:ext cx="27432" cy="2286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5897880" y="1600200"/>
            <a:ext cx="228600" cy="274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480560" y="2670048"/>
            <a:ext cx="27432" cy="4846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5897880" y="2103120"/>
            <a:ext cx="22860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6108192" y="2103120"/>
            <a:ext cx="27432" cy="16002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897880" y="4069080"/>
            <a:ext cx="3246120" cy="2743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961120" y="841248"/>
            <a:ext cx="3017520" cy="146304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9098280" y="896112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LEGEND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218" name="Rectangle 217"/>
          <p:cNvSpPr/>
          <p:nvPr/>
        </p:nvSpPr>
        <p:spPr>
          <a:xfrm>
            <a:off x="9098280" y="1207008"/>
            <a:ext cx="256032" cy="18288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9418320" y="120700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PK = Primary Key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220" name="Rectangle 219"/>
          <p:cNvSpPr/>
          <p:nvPr/>
        </p:nvSpPr>
        <p:spPr>
          <a:xfrm>
            <a:off x="9098280" y="1463040"/>
            <a:ext cx="256032" cy="1828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418320" y="146304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FK = Foreign Key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222" name="Rectangle 221"/>
          <p:cNvSpPr/>
          <p:nvPr/>
        </p:nvSpPr>
        <p:spPr>
          <a:xfrm>
            <a:off x="9098280" y="1719072"/>
            <a:ext cx="25603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9418320" y="171907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Line = Relationship</a:t>
            </a:r>
            <a:endParaRPr sz="1000" b="0" i="0">
              <a:solidFill>
                <a:srgbClr val="121A2E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Star Schema  –  Data Warehouse Design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Fact tables surrounded by dimension tables for fast analytical queries</a:t>
            </a:r>
            <a:endParaRPr sz="1200" b="0" i="0">
              <a:solidFill>
                <a:srgbClr val="BBD6F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46320" y="822960"/>
            <a:ext cx="2468880" cy="1691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46320" y="822960"/>
            <a:ext cx="2468880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10328" y="877824"/>
            <a:ext cx="384048" cy="20116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10328" y="868680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21A2E"/>
                </a:solidFill>
              </a:rPr>
              <a:t>DIM</a:t>
            </a:r>
            <a:endParaRPr sz="700" b="1" i="0">
              <a:solidFill>
                <a:srgbClr val="121A2E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349240" y="868680"/>
            <a:ext cx="1874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dim_date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892040" y="1188720"/>
            <a:ext cx="237744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59" y="1197864"/>
            <a:ext cx="22860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date_key (PK)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892040" y="1389888"/>
            <a:ext cx="2377440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59" y="1399032"/>
            <a:ext cx="22860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year, quarter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892040" y="1591056"/>
            <a:ext cx="237744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59" y="1600200"/>
            <a:ext cx="22860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month, month_name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892040" y="1792224"/>
            <a:ext cx="2377440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801368"/>
            <a:ext cx="22860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day_name, is_weekend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82880" y="822960"/>
            <a:ext cx="2514600" cy="19202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" y="822960"/>
            <a:ext cx="2514600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6888" y="877824"/>
            <a:ext cx="384048" cy="20116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6888" y="868680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21A2E"/>
                </a:solidFill>
              </a:rPr>
              <a:t>DIM</a:t>
            </a:r>
            <a:endParaRPr sz="700" b="1" i="0">
              <a:solidFill>
                <a:srgbClr val="121A2E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5800" y="86868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dim_member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28600" y="1188720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1197864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member_id (PK) masked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28600" y="1389888"/>
            <a:ext cx="2423160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1399032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gender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8600" y="1591056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1600200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city, state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228600" y="1792224"/>
            <a:ext cx="2423160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1801368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birth_year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28600" y="1993392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2002536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is_active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9464040" y="822960"/>
            <a:ext cx="2514600" cy="19202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64040" y="822960"/>
            <a:ext cx="2514600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28048" y="877824"/>
            <a:ext cx="384048" cy="20116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28048" y="868680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21A2E"/>
                </a:solidFill>
              </a:rPr>
              <a:t>DIM</a:t>
            </a:r>
            <a:endParaRPr sz="700" b="1" i="0">
              <a:solidFill>
                <a:srgbClr val="121A2E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966960" y="86868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dim_provider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9509760" y="1188720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55480" y="1197864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provider_id (PK) masked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9509760" y="1389888"/>
            <a:ext cx="2423160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55480" y="1399032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specialty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9509760" y="1591056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55480" y="1600200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city, state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9509760" y="1792224"/>
            <a:ext cx="2423160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55480" y="1801368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tax_id masked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9509760" y="1993392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55480" y="2002536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license_no masked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4572000" y="2834640"/>
            <a:ext cx="3017520" cy="22860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2000" y="2834640"/>
            <a:ext cx="3017520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36008" y="2889504"/>
            <a:ext cx="384048" cy="201168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36008" y="2880360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21A2E"/>
                </a:solidFill>
              </a:rPr>
              <a:t>FACT</a:t>
            </a:r>
            <a:endParaRPr sz="700" b="1" i="0">
              <a:solidFill>
                <a:srgbClr val="121A2E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074920" y="288036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fact_claim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4617720" y="3200400"/>
            <a:ext cx="2926079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63440" y="3209544"/>
            <a:ext cx="283463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claim_number (PK)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617720" y="3401568"/>
            <a:ext cx="2926079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63440" y="3410712"/>
            <a:ext cx="283463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member_id (FK)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4617720" y="3602736"/>
            <a:ext cx="2926079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63440" y="3611880"/>
            <a:ext cx="283463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provider_id (FK)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17720" y="3803904"/>
            <a:ext cx="2926079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63440" y="3813048"/>
            <a:ext cx="283463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admit_date_key (FK)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4617720" y="4005072"/>
            <a:ext cx="2926079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63440" y="4014216"/>
            <a:ext cx="283463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length_of_stay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4617720" y="4206240"/>
            <a:ext cx="2926079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63440" y="4215384"/>
            <a:ext cx="283463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allowed_amount, paid_amount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4617720" y="4407408"/>
            <a:ext cx="2926079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63440" y="4416552"/>
            <a:ext cx="283463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denial_code, is_denied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182880" y="3566160"/>
            <a:ext cx="2514600" cy="19202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82880" y="3566160"/>
            <a:ext cx="2514600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46888" y="3621024"/>
            <a:ext cx="384048" cy="20116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6888" y="3611879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21A2E"/>
                </a:solidFill>
              </a:rPr>
              <a:t>DIM</a:t>
            </a:r>
            <a:endParaRPr sz="700" b="1" i="0">
              <a:solidFill>
                <a:srgbClr val="121A2E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85800" y="3611879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fact_claim_line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228600" y="3931920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74320" y="3941063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line_id (PK)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228600" y="4133087"/>
            <a:ext cx="2423160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4320" y="4142231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claim_number (FK)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228600" y="4334256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" y="4343400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service_date_key (FK)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228600" y="4535424"/>
            <a:ext cx="2423160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74320" y="4544568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procedure_code (FK)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228600" y="4736592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4320" y="4745736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units, rate, line_amount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9464040" y="3566160"/>
            <a:ext cx="2514600" cy="19202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464040" y="3566160"/>
            <a:ext cx="2514600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528048" y="3621024"/>
            <a:ext cx="384048" cy="20116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528048" y="3611879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21A2E"/>
                </a:solidFill>
              </a:rPr>
              <a:t>DIM</a:t>
            </a:r>
            <a:endParaRPr sz="700" b="1" i="0">
              <a:solidFill>
                <a:srgbClr val="121A2E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9966960" y="3611879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fact_payment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9509760" y="3931920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555480" y="3941063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payment_id (PK)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9509760" y="4133087"/>
            <a:ext cx="2423160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555480" y="4142231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claim_number (FK)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9509760" y="4334256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555480" y="4343400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payment_date_key (FK)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9509760" y="4535424"/>
            <a:ext cx="2423160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555480" y="4544568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payment_method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9509760" y="4736592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555480" y="4745736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paid_amount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182880" y="5623560"/>
            <a:ext cx="2514600" cy="9144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82880" y="5623560"/>
            <a:ext cx="2514600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46888" y="5678424"/>
            <a:ext cx="384048" cy="20116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46888" y="5669280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21A2E"/>
                </a:solidFill>
              </a:rPr>
              <a:t>DIM</a:t>
            </a:r>
            <a:endParaRPr sz="700" b="1" i="0">
              <a:solidFill>
                <a:srgbClr val="121A2E"/>
              </a:solidFill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685800" y="566928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dim_diagnosis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228600" y="5989320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74320" y="5998464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diagnosis_code (PK)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228600" y="6190488"/>
            <a:ext cx="2423160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74320" y="6199632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icd_version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9464040" y="5623560"/>
            <a:ext cx="2514600" cy="9144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464040" y="5623560"/>
            <a:ext cx="2514600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528048" y="5678424"/>
            <a:ext cx="384048" cy="20116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528048" y="5669280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21A2E"/>
                </a:solidFill>
              </a:rPr>
              <a:t>DIM</a:t>
            </a:r>
            <a:endParaRPr sz="700" b="1" i="0">
              <a:solidFill>
                <a:srgbClr val="121A2E"/>
              </a:solidFill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9966960" y="566928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dim_procedure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9509760" y="5989320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555480" y="5998464"/>
            <a:ext cx="23317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procedure_code (PK)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116" name="Rectangle 115"/>
          <p:cNvSpPr/>
          <p:nvPr/>
        </p:nvSpPr>
        <p:spPr>
          <a:xfrm>
            <a:off x="4983480" y="5623560"/>
            <a:ext cx="2606040" cy="9144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983480" y="5623560"/>
            <a:ext cx="2606040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047488" y="5678424"/>
            <a:ext cx="384048" cy="20116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047488" y="5669280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21A2E"/>
                </a:solidFill>
              </a:rPr>
              <a:t>DIM</a:t>
            </a:r>
            <a:endParaRPr sz="700" b="1" i="0">
              <a:solidFill>
                <a:srgbClr val="121A2E"/>
              </a:solidFill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5486400" y="566928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dim_location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5029200" y="5989320"/>
            <a:ext cx="251460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74920" y="5998464"/>
            <a:ext cx="24231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location_key (PK)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5029200" y="6190488"/>
            <a:ext cx="2514600" cy="1828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074920" y="6199632"/>
            <a:ext cx="24231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city, state</a:t>
            </a:r>
            <a:endParaRPr sz="800" b="0" i="0">
              <a:solidFill>
                <a:srgbClr val="121A2E"/>
              </a:solidFill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2697480" y="1920240"/>
            <a:ext cx="1874519" cy="2743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553712" y="1920240"/>
            <a:ext cx="27432" cy="91440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589520" y="1920240"/>
            <a:ext cx="1874519" cy="2743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571231" y="1920240"/>
            <a:ext cx="27432" cy="91440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080760" y="2514600"/>
            <a:ext cx="27432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97480" y="3977639"/>
            <a:ext cx="1874519" cy="274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589520" y="3977639"/>
            <a:ext cx="1874519" cy="274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435608" y="5486400"/>
            <a:ext cx="27432" cy="13716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697480" y="4892040"/>
            <a:ext cx="6766560" cy="274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445752" y="4892040"/>
            <a:ext cx="27432" cy="73152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291072" y="5120640"/>
            <a:ext cx="27432" cy="5029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ETL Pipeline Architecture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Extract  -&gt;  Profile  -&gt;  Clean  -&gt;  Mask  -&gt;  Load  -&gt;  Analyse</a:t>
            </a:r>
            <a:endParaRPr sz="1200" b="0" i="0">
              <a:solidFill>
                <a:srgbClr val="BBD6F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960120"/>
            <a:ext cx="1847088" cy="228600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01</a:t>
            </a:r>
            <a:endParaRPr sz="2200" b="1" i="0">
              <a:solidFill>
                <a:srgbClr val="FFFFFF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7472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Source
CSVs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47472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7 files
1.4M rows</a:t>
            </a:r>
            <a:endParaRPr sz="1100" b="0" i="0">
              <a:solidFill>
                <a:srgbClr val="DDEE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039112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  <a:endParaRPr sz="2200" b="1" i="0">
              <a:solidFill>
                <a:srgbClr val="555F77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240280" y="960120"/>
            <a:ext cx="1847088" cy="2286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02</a:t>
            </a:r>
            <a:endParaRPr sz="2200" b="1" i="0">
              <a:solidFill>
                <a:srgbClr val="FFFFFF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331720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Profile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331720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Detect all
quality issues</a:t>
            </a:r>
            <a:endParaRPr sz="1100" b="0" i="0">
              <a:solidFill>
                <a:srgbClr val="DDEEF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240280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step1_profile.py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02336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  <a:endParaRPr sz="2200" b="1" i="0">
              <a:solidFill>
                <a:srgbClr val="555F77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24528" y="960120"/>
            <a:ext cx="1847088" cy="22860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03</a:t>
            </a:r>
            <a:endParaRPr sz="2200" b="1" i="0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15968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Clean &amp;
Validate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315968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Remove bad rows
Save rejects</a:t>
            </a:r>
            <a:endParaRPr sz="1100" b="0" i="0">
              <a:solidFill>
                <a:srgbClr val="DDEEFF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224528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step2_clean.py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007608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  <a:endParaRPr sz="2200" b="1" i="0">
              <a:solidFill>
                <a:srgbClr val="555F77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08776" y="960120"/>
            <a:ext cx="1847088" cy="2286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216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04</a:t>
            </a:r>
            <a:endParaRPr sz="2200" b="1" i="0">
              <a:solidFill>
                <a:srgbClr val="FFFFFF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300216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Mask
PII / PHI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00216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Hash sensitive
fields</a:t>
            </a:r>
            <a:endParaRPr sz="1100" b="0" i="0">
              <a:solidFill>
                <a:srgbClr val="DDEEFF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208776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step3_mask.py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991856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  <a:endParaRPr sz="2200" b="1" i="0">
              <a:solidFill>
                <a:srgbClr val="555F77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193023" y="960120"/>
            <a:ext cx="1847088" cy="2286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3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05</a:t>
            </a:r>
            <a:endParaRPr sz="2200" b="1" i="0">
              <a:solidFill>
                <a:srgbClr val="FFFFFF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284463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Full ETL
Load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284463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Build schema
Load all data</a:t>
            </a:r>
            <a:endParaRPr sz="1100" b="0" i="0">
              <a:solidFill>
                <a:srgbClr val="DDEEFF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193023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step4_load_full.py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976103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  <a:endParaRPr sz="2200" b="1" i="0">
              <a:solidFill>
                <a:srgbClr val="555F77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0177272" y="960120"/>
            <a:ext cx="1847088" cy="228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8711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06</a:t>
            </a:r>
            <a:endParaRPr sz="2200" b="1" i="0">
              <a:solidFill>
                <a:srgbClr val="FFFFFF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0268711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Incremental
Load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268711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New rows only
watermark-based</a:t>
            </a:r>
            <a:endParaRPr sz="1100" b="0" i="0">
              <a:solidFill>
                <a:srgbClr val="DDEEFF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177272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step5_incremental.py</a:t>
            </a:r>
            <a:endParaRPr sz="800" b="0" i="1">
              <a:solidFill>
                <a:srgbClr val="555F77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28600" y="3703320"/>
            <a:ext cx="5623560" cy="260604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600" y="3703320"/>
            <a:ext cx="91440" cy="26060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376732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53935"/>
                </a:solidFill>
              </a:rPr>
              <a:t>FULL LOAD</a:t>
            </a:r>
            <a:endParaRPr sz="1400" b="1" i="0">
              <a:solidFill>
                <a:srgbClr val="E53935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57200" y="416052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1A2E"/>
                </a:solidFill>
              </a:rPr>
              <a:t>-&gt; Drop all existing warehouse data
-&gt; Run DDL to recreate all tables
-&gt; Clean + mask + load all 1.4M rows
-&gt; Use when: first run or full refresh needed</a:t>
            </a:r>
            <a:endParaRPr sz="1200" b="0" i="0">
              <a:solidFill>
                <a:srgbClr val="121A2E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6080760" y="3703320"/>
            <a:ext cx="5879592" cy="2606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80760" y="3703320"/>
            <a:ext cx="91440" cy="2606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0" y="37673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</a:rPr>
              <a:t>INCREMENTAL LOAD</a:t>
            </a:r>
            <a:endParaRPr sz="1400" b="1" i="0">
              <a:solidFill>
                <a:srgbClr val="2E7D32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309360" y="4160520"/>
            <a:ext cx="5486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1A2E"/>
                </a:solidFill>
              </a:rPr>
              <a:t>-&gt; Read last_load_dt from etl_watermark table
-&gt; Filter CSV: rows where date &gt; last_load_dt
-&gt; Process and load ONLY those new rows
-&gt; Use when: daily/regular refresh needed</a:t>
            </a:r>
            <a:endParaRPr sz="1200" b="0" i="0">
              <a:solidFill>
                <a:srgbClr val="121A2E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F77"/>
                </a:solidFill>
              </a:rPr>
              <a:t>Outputs: warehouse.db  |  rejected_rows/*.csv  |  logs/profiling_summary.json  |  logs/masking_audit.json</a:t>
            </a:r>
            <a:endParaRPr sz="1000" b="0" i="1">
              <a:solidFill>
                <a:srgbClr val="555F77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Data Cleaning Results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Validation applied entity-by-entity in dependency order</a:t>
            </a:r>
            <a:endParaRPr sz="1200" b="0" i="0">
              <a:solidFill>
                <a:srgbClr val="BBD6F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41248"/>
            <a:ext cx="180136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877824"/>
            <a:ext cx="16824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Entity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011680" y="841248"/>
            <a:ext cx="116128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4832" y="877824"/>
            <a:ext cx="10424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Total In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200400" y="841248"/>
            <a:ext cx="134416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3552" y="877824"/>
            <a:ext cx="12252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Valid (Kept)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0" y="841248"/>
            <a:ext cx="116128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877824"/>
            <a:ext cx="10424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Rejected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760720" y="841248"/>
            <a:ext cx="79552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33872" y="877824"/>
            <a:ext cx="6766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Rate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583680" y="841248"/>
            <a:ext cx="573328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877824"/>
            <a:ext cx="56144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Main Rejection Reasons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82880" y="1234440"/>
            <a:ext cx="18013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" y="12710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011680" y="12344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4832" y="12710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2,60,000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200400" y="1234440"/>
            <a:ext cx="13441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73552" y="12710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2,32,207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572000" y="12344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2" y="12710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27,793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760720" y="1234440"/>
            <a:ext cx="79552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33872" y="12710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10.7%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583680" y="1234440"/>
            <a:ext cx="5733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12710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Missing name, future DOB, duplicate ID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82880" y="1691640"/>
            <a:ext cx="18013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" y="17282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providers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011680" y="16916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84832" y="17282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40,000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00400" y="1691640"/>
            <a:ext cx="13441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73552" y="17282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38,424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0" y="16916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45152" y="17282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1,576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5760720" y="1691640"/>
            <a:ext cx="79552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33872" y="17282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3.9%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583680" y="1691640"/>
            <a:ext cx="5733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56832" y="17282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Missing specialty, duplicate ID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182880" y="2148840"/>
            <a:ext cx="18013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032" y="21854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2011680" y="21488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84832" y="21854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2,40,000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3200400" y="2148840"/>
            <a:ext cx="13441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73552" y="21854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2,08,640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572000" y="21488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45152" y="21854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31,360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5760720" y="2148840"/>
            <a:ext cx="79552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33872" y="21854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13.1%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6583680" y="2148840"/>
            <a:ext cx="5733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56832" y="21854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member_id, negative amount, future date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82880" y="2606040"/>
            <a:ext cx="18013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6032" y="26426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claim_lines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011680" y="26060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84832" y="26426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7,60,000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3200400" y="2606040"/>
            <a:ext cx="13441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73552" y="26426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6,45,733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572000" y="26060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45152" y="26426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1,14,267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5760720" y="2606040"/>
            <a:ext cx="79552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833872" y="26426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15.0%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6583680" y="2606040"/>
            <a:ext cx="5733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26426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claim_number, negative units, bad rate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182880" y="3063240"/>
            <a:ext cx="18013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6032" y="30998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payments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2011680" y="30632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84832" y="30998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1,00,000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3200400" y="3063240"/>
            <a:ext cx="13441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73552" y="30998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59,615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4572000" y="30632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45152" y="30998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40,385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5760720" y="3063240"/>
            <a:ext cx="79552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833872" y="30998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40.4%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6583680" y="3063240"/>
            <a:ext cx="5733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56832" y="30998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claim_number, non-numeric amount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182880" y="3520440"/>
            <a:ext cx="18013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56032" y="35570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diagnoses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2011680" y="35204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84832" y="35570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60,000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3200400" y="3520440"/>
            <a:ext cx="13441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73552" y="35570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39,741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4572000" y="35204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645152" y="35570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20,259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5760720" y="3520440"/>
            <a:ext cx="79552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833872" y="35570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33.8%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6583680" y="3520440"/>
            <a:ext cx="5733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56832" y="35570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claim_number, invalid ICD version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182880" y="3977639"/>
            <a:ext cx="18013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56032" y="4014215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procedures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2011680" y="3977639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084832" y="4014215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40,000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200400" y="3977639"/>
            <a:ext cx="13441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273552" y="4014215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24,844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4572000" y="3977639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645152" y="4014215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15,156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5760720" y="3977639"/>
            <a:ext cx="79552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833872" y="4014215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37.9%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102" name="Rectangle 101"/>
          <p:cNvSpPr/>
          <p:nvPr/>
        </p:nvSpPr>
        <p:spPr>
          <a:xfrm>
            <a:off x="6583680" y="3977639"/>
            <a:ext cx="5733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656832" y="4014215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line_id, missing procedure code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182880" y="4462272"/>
            <a:ext cx="180136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56032" y="4498848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TOTAL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06" name="Rectangle 105"/>
          <p:cNvSpPr/>
          <p:nvPr/>
        </p:nvSpPr>
        <p:spPr>
          <a:xfrm>
            <a:off x="2011680" y="4462272"/>
            <a:ext cx="116128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084832" y="4498848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14,00,000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3200400" y="4462272"/>
            <a:ext cx="134416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273552" y="4498848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12,49,204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10" name="Rectangle 109"/>
          <p:cNvSpPr/>
          <p:nvPr/>
        </p:nvSpPr>
        <p:spPr>
          <a:xfrm>
            <a:off x="4572000" y="4462272"/>
            <a:ext cx="116128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645152" y="4498848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2,50,796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5760720" y="4462272"/>
            <a:ext cx="79552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833872" y="4498848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17.9%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6583680" y="4462272"/>
            <a:ext cx="573328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656832" y="4498848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All quality issues combined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16" name="Rectangle 115"/>
          <p:cNvSpPr/>
          <p:nvPr/>
        </p:nvSpPr>
        <p:spPr>
          <a:xfrm>
            <a:off x="182880" y="5029200"/>
            <a:ext cx="2834640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20040" y="51206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12,49,204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274320" y="57790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Valid Rows Loaded</a:t>
            </a:r>
            <a:endParaRPr sz="1100" b="0" i="0">
              <a:solidFill>
                <a:srgbClr val="FFFFFF"/>
              </a:solidFill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3172968" y="5029200"/>
            <a:ext cx="2834640" cy="1508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310128" y="51206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2,50,796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3264408" y="57790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Rows Rejected</a:t>
            </a:r>
            <a:endParaRPr sz="1100" b="0" i="0">
              <a:solidFill>
                <a:srgbClr val="FFFFFF"/>
              </a:solidFill>
            </a:endParaRPr>
          </a:p>
        </p:txBody>
      </p:sp>
      <p:sp>
        <p:nvSpPr>
          <p:cNvPr id="122" name="Rectangle 121"/>
          <p:cNvSpPr/>
          <p:nvPr/>
        </p:nvSpPr>
        <p:spPr>
          <a:xfrm>
            <a:off x="6163056" y="5029200"/>
            <a:ext cx="2834640" cy="150876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300216" y="51206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17.9%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6254496" y="57790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Overall Reject Rate</a:t>
            </a:r>
            <a:endParaRPr sz="1100" b="0" i="0">
              <a:solidFill>
                <a:srgbClr val="FFFFFF"/>
              </a:solidFill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9153144" y="5029200"/>
            <a:ext cx="2834640" cy="150876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290304" y="51206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7 files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9244584" y="57790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Audit CSVs Saved</a:t>
            </a:r>
            <a:endParaRPr sz="1100" b="0" i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Data Masking  –  PII / PHI Protection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Deterministic HMAC-SHA256 tokenisation applied before warehouse loading</a:t>
            </a:r>
            <a:endParaRPr sz="1200" b="0" i="0">
              <a:solidFill>
                <a:srgbClr val="BBD6F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841248"/>
            <a:ext cx="5577840" cy="123444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841248"/>
            <a:ext cx="73152" cy="12344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914400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FC4"/>
                </a:solidFill>
              </a:rPr>
              <a:t>Why Masking?</a:t>
            </a:r>
            <a:endParaRPr sz="1300" b="1" i="0">
              <a:solidFill>
                <a:srgbClr val="1A6FC4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93192" y="1280160"/>
            <a:ext cx="5349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21A2E"/>
                </a:solidFill>
              </a:rPr>
              <a:t>Analysts querying the warehouse must never see real patient names, emails, phone numbers or exact dates of birth. Masking protects privacy while keeping all analytical relationships intact.</a:t>
            </a:r>
            <a:endParaRPr sz="1100" b="0" i="0">
              <a:solidFill>
                <a:srgbClr val="121A2E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89320" y="841248"/>
            <a:ext cx="5943600" cy="123444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841248"/>
            <a:ext cx="73152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914400"/>
            <a:ext cx="5715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</a:rPr>
              <a:t>How It Works  —  HMAC-SHA256</a:t>
            </a:r>
            <a:endParaRPr sz="1300" b="1" i="0">
              <a:solidFill>
                <a:srgbClr val="2E7D32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53912" y="1280160"/>
            <a:ext cx="5715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21A2E"/>
                </a:solidFill>
              </a:rPr>
              <a:t>DETERMINISTIC: same input always produces the same token (JOINs work)
IRREVERSIBLE: cannot be decoded back to the original value
SALT: a secret key makes tokens unique to this project only</a:t>
            </a:r>
            <a:endParaRPr sz="1100" b="0" i="0">
              <a:solidFill>
                <a:srgbClr val="121A2E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82880" y="2240280"/>
            <a:ext cx="180136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" y="2276856"/>
            <a:ext cx="16824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Field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11680" y="2240280"/>
            <a:ext cx="152704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4832" y="2276856"/>
            <a:ext cx="1408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Entity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566160" y="2240280"/>
            <a:ext cx="198424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2276856"/>
            <a:ext cx="18653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Technique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577840" y="2240280"/>
            <a:ext cx="299008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0992" y="2276856"/>
            <a:ext cx="2871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Before (Raw)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595360" y="2240280"/>
            <a:ext cx="280720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68512" y="2276856"/>
            <a:ext cx="26883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After (Masked)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82880" y="2633472"/>
            <a:ext cx="180136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2670048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member_id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011680" y="2633472"/>
            <a:ext cx="15270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4832" y="2670048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566160" y="2633472"/>
            <a:ext cx="19842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9312" y="2670048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5577840" y="2633472"/>
            <a:ext cx="299008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50992" y="2670048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M0000001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595360" y="2633472"/>
            <a:ext cx="280720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68512" y="2670048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MBR3F9A2C1D4E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82880" y="3035808"/>
            <a:ext cx="180136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032" y="3072384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first_name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011680" y="3035808"/>
            <a:ext cx="15270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84832" y="3072384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3566160" y="3035808"/>
            <a:ext cx="19842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39312" y="3072384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577840" y="3035808"/>
            <a:ext cx="299008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50992" y="3072384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Alice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8595360" y="3035808"/>
            <a:ext cx="280720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68512" y="3072384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FN8B2C3D4E5F6A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182880" y="3438144"/>
            <a:ext cx="180136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032" y="3474720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email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2011680" y="3438144"/>
            <a:ext cx="15270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84832" y="3474720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566160" y="3438144"/>
            <a:ext cx="19842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39312" y="3474720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5577840" y="3438144"/>
            <a:ext cx="299008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50992" y="3474720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alice@gmail.com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595360" y="3438144"/>
            <a:ext cx="280720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68512" y="3474720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EMAIF29A3B1C2D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82880" y="3840480"/>
            <a:ext cx="180136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6032" y="3877056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phone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011680" y="3840480"/>
            <a:ext cx="15270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84832" y="3877056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3566160" y="3840480"/>
            <a:ext cx="19842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39312" y="3877056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5577840" y="3840480"/>
            <a:ext cx="299008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50992" y="3877056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9876543210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8595360" y="3840480"/>
            <a:ext cx="280720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68512" y="3877056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PH8A2B3C4D5E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82880" y="4242816"/>
            <a:ext cx="180136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6032" y="4279392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dob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2011680" y="4242816"/>
            <a:ext cx="15270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84832" y="4279392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3566160" y="4242816"/>
            <a:ext cx="19842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39312" y="4279392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Year only (generalise)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5577840" y="4242816"/>
            <a:ext cx="299008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50992" y="4279392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1985-03-10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8595360" y="4242816"/>
            <a:ext cx="280720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68512" y="4279392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1985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182880" y="4645152"/>
            <a:ext cx="180136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6032" y="4681728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tax_id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2011680" y="4645152"/>
            <a:ext cx="15270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84832" y="4681728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providers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3566160" y="4645152"/>
            <a:ext cx="19842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39312" y="4681728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5577840" y="4645152"/>
            <a:ext cx="299008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50992" y="4681728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908430420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8595360" y="4645152"/>
            <a:ext cx="280720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68512" y="4681728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TAX2B3C4D5E6F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182880" y="5047488"/>
            <a:ext cx="180136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56032" y="5084064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2011680" y="5047488"/>
            <a:ext cx="15270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84832" y="5084064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3566160" y="5047488"/>
            <a:ext cx="19842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639312" y="5084064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5577840" y="5047488"/>
            <a:ext cx="299008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650992" y="5084064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CL00155929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8595360" y="5047488"/>
            <a:ext cx="280720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668512" y="5084064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CLM4E5F6A7B8C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182880" y="5449824"/>
            <a:ext cx="180136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56032" y="5486400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city / state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2011680" y="5449824"/>
            <a:ext cx="152704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84832" y="5486400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3566160" y="5449824"/>
            <a:ext cx="198424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39312" y="5486400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Kept as-is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102" name="Rectangle 101"/>
          <p:cNvSpPr/>
          <p:nvPr/>
        </p:nvSpPr>
        <p:spPr>
          <a:xfrm>
            <a:off x="5577840" y="5449824"/>
            <a:ext cx="299008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650992" y="5486400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Mumbai, Maharashtra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8595360" y="5449824"/>
            <a:ext cx="280720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668512" y="5486400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Mumbai, Maharashtra</a:t>
            </a:r>
            <a:endParaRPr sz="1000" b="0" i="0">
              <a:solidFill>
                <a:srgbClr val="121A2E"/>
              </a:solidFill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182880" y="6080760"/>
            <a:ext cx="1179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Fields kept clear: city, state, gender, specialty, procedure_code, diagnosis_code, amounts, payment_method, dates (non-DOB)</a:t>
            </a:r>
            <a:endParaRPr sz="1000" b="0" i="1">
              <a:solidFill>
                <a:srgbClr val="555F77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Analytical SQL Queries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10 business questions answered from the warehouse</a:t>
            </a:r>
            <a:endParaRPr sz="1200" b="0" i="0">
              <a:solidFill>
                <a:srgbClr val="BBD6F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91440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914400"/>
            <a:ext cx="594360" cy="96012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" y="1005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Q1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32688" y="97840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Total Claims Summary</a:t>
            </a:r>
            <a:endParaRPr sz="1300" b="1" i="0">
              <a:solidFill>
                <a:srgbClr val="0D1B3E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2688" y="135331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COUNT, SUM, AVG on fact_claim</a:t>
            </a:r>
            <a:endParaRPr sz="1000" b="0" i="1">
              <a:solidFill>
                <a:srgbClr val="555F77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72200" y="91440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914400"/>
            <a:ext cx="594360" cy="96012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005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Q2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922008" y="97840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Monthly Paid Trend</a:t>
            </a:r>
            <a:endParaRPr sz="1300" b="1" i="0">
              <a:solidFill>
                <a:srgbClr val="0D1B3E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922008" y="135331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JOIN fact_claim + dim_date, GROUP BY year/month</a:t>
            </a:r>
            <a:endParaRPr sz="1000" b="0" i="1">
              <a:solidFill>
                <a:srgbClr val="555F77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82880" y="201168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2011680"/>
            <a:ext cx="59436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Q3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32688" y="207568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Top 10 Procedures</a:t>
            </a:r>
            <a:endParaRPr sz="1300" b="1" i="0">
              <a:solidFill>
                <a:srgbClr val="0D1B3E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32688" y="245059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GROUP BY procedure_code ORDER BY COUNT(*)</a:t>
            </a:r>
            <a:endParaRPr sz="1000" b="0" i="1">
              <a:solidFill>
                <a:srgbClr val="555F77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172200" y="201168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2011680"/>
            <a:ext cx="594360" cy="9601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2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Q4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922008" y="207568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Provider Scorecard</a:t>
            </a:r>
            <a:endParaRPr sz="1300" b="1" i="0">
              <a:solidFill>
                <a:srgbClr val="0D1B3E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922008" y="245059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JOIN dim_provider, AVG paid, denial_rate %</a:t>
            </a:r>
            <a:endParaRPr sz="1000" b="0" i="1">
              <a:solidFill>
                <a:srgbClr val="555F77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182880" y="310896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2880" y="3108960"/>
            <a:ext cx="594360" cy="9601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Q5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32688" y="31729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Denial Rate Breakdown</a:t>
            </a:r>
            <a:endParaRPr sz="1300" b="1" i="0">
              <a:solidFill>
                <a:srgbClr val="0D1B3E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32688" y="354787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CASE WHEN denial_code, GROUP BY denial_reason</a:t>
            </a:r>
            <a:endParaRPr sz="1000" b="0" i="1">
              <a:solidFill>
                <a:srgbClr val="555F77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172200" y="310896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3108960"/>
            <a:ext cx="594360" cy="9601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5352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Q6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922008" y="31729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Length of Stay Dist.</a:t>
            </a:r>
            <a:endParaRPr sz="1300" b="1" i="0">
              <a:solidFill>
                <a:srgbClr val="0D1B3E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922008" y="354787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GROUP BY length_of_stay, AVG paid_amount</a:t>
            </a:r>
            <a:endParaRPr sz="1000" b="0" i="1">
              <a:solidFill>
                <a:srgbClr val="555F77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82880" y="420624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2880" y="4206240"/>
            <a:ext cx="594360" cy="9601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42976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Q7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932688" y="427024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Member Utilisation</a:t>
            </a:r>
            <a:endParaRPr sz="1300" b="1" i="0">
              <a:solidFill>
                <a:srgbClr val="0D1B3E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32688" y="464515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JOIN dim_member, SUM paid, ORDER BY spend</a:t>
            </a:r>
            <a:endParaRPr sz="1000" b="0" i="1">
              <a:solidFill>
                <a:srgbClr val="555F77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172200" y="420624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72200" y="4206240"/>
            <a:ext cx="594360" cy="96012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45352" y="42976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Q8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922008" y="427024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Geographic Analysis</a:t>
            </a:r>
            <a:endParaRPr sz="1300" b="1" i="0">
              <a:solidFill>
                <a:srgbClr val="0D1B3E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922008" y="464515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JOIN dim_member on city/state, SUM by state</a:t>
            </a:r>
            <a:endParaRPr sz="1000" b="0" i="1">
              <a:solidFill>
                <a:srgbClr val="555F77"/>
              </a:solidFill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82880" y="530352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2880" y="5303520"/>
            <a:ext cx="594360" cy="96012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6032" y="53949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Q9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932688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Payment Method Split</a:t>
            </a:r>
            <a:endParaRPr sz="1300" b="1" i="0">
              <a:solidFill>
                <a:srgbClr val="0D1B3E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32688" y="5742431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GROUP BY payment_method, SUM paid_amount</a:t>
            </a:r>
            <a:endParaRPr sz="1000" b="0" i="1">
              <a:solidFill>
                <a:srgbClr val="555F77"/>
              </a:solidFill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6172200" y="530352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72200" y="5303520"/>
            <a:ext cx="594360" cy="9601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72200" y="5394960"/>
            <a:ext cx="530225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Q10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6922008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Diagnosis Cost Analysis</a:t>
            </a:r>
            <a:endParaRPr sz="1300" b="1" i="0">
              <a:solidFill>
                <a:srgbClr val="0D1B3E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6922008" y="5742431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Link diagnoses to claims, cost by ICD code</a:t>
            </a:r>
            <a:endParaRPr sz="1000" b="0" i="1">
              <a:solidFill>
                <a:srgbClr val="555F77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82880" y="644652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7"/>
                </a:solidFill>
              </a:rPr>
              <a:t>All queries run against the live SQLite warehouse via Python / Jupyter Notebook</a:t>
            </a:r>
            <a:endParaRPr sz="1100" b="0" i="1">
              <a:solidFill>
                <a:srgbClr val="555F77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Business Metrics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Live results from the warehouse after full ETL load</a:t>
            </a:r>
            <a:endParaRPr sz="1200" b="0" i="0">
              <a:solidFill>
                <a:srgbClr val="BBD6F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914400"/>
            <a:ext cx="2834640" cy="1920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2770632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024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Total Claims</a:t>
            </a:r>
            <a:endParaRPr sz="1100" b="0" i="0">
              <a:solidFill>
                <a:srgbClr val="DDEE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92608" y="1316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2,08,640</a:t>
            </a:r>
            <a:endParaRPr sz="3000" b="1" i="0">
              <a:solidFill>
                <a:srgbClr val="FFFFFF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172968" y="914400"/>
            <a:ext cx="2834640" cy="19202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72968" y="2770632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1024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Total Allowed</a:t>
            </a:r>
            <a:endParaRPr sz="1100" b="0" i="0">
              <a:solidFill>
                <a:srgbClr val="DDEEFF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282696" y="1316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Rs 20.9B</a:t>
            </a:r>
            <a:endParaRPr sz="3000" b="1" i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310128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billed</a:t>
            </a:r>
            <a:endParaRPr sz="1000" b="0" i="0">
              <a:solidFill>
                <a:srgbClr val="CCE5FF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163056" y="914400"/>
            <a:ext cx="2834640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63056" y="2770632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024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Total Paid</a:t>
            </a:r>
            <a:endParaRPr sz="1100" b="0" i="0">
              <a:solidFill>
                <a:srgbClr val="DDEEFF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272784" y="1316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Rs 15.68B</a:t>
            </a:r>
            <a:endParaRPr sz="3000" b="1" i="0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300216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paid out</a:t>
            </a:r>
            <a:endParaRPr sz="1000" b="0" i="0">
              <a:solidFill>
                <a:srgbClr val="CCE5FF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153144" y="914400"/>
            <a:ext cx="2834640" cy="192024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53144" y="2770632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0304" y="1024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Avg per Claim</a:t>
            </a:r>
            <a:endParaRPr sz="1100" b="0" i="0">
              <a:solidFill>
                <a:srgbClr val="DDEE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262872" y="1316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Rs 75,156</a:t>
            </a:r>
            <a:endParaRPr sz="3000" b="1" i="0">
              <a:solidFill>
                <a:srgbClr val="FFFFFF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290304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average</a:t>
            </a:r>
            <a:endParaRPr sz="1000" b="0" i="0">
              <a:solidFill>
                <a:srgbClr val="CCE5FF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82880" y="3200400"/>
            <a:ext cx="2834640" cy="19202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2880" y="5056631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310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Denial Rate</a:t>
            </a:r>
            <a:endParaRPr sz="1100" b="0" i="0">
              <a:solidFill>
                <a:srgbClr val="DDEEFF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92608" y="3602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49.92%</a:t>
            </a:r>
            <a:endParaRPr sz="3000" b="1" i="0">
              <a:solidFill>
                <a:srgbClr val="FFFFFF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20040" y="4251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claims denied</a:t>
            </a:r>
            <a:endParaRPr sz="1000" b="0" i="0">
              <a:solidFill>
                <a:srgbClr val="CCE5FF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172968" y="3200400"/>
            <a:ext cx="2834640" cy="192024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72968" y="5056631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310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Top State</a:t>
            </a:r>
            <a:endParaRPr sz="1100" b="0" i="0">
              <a:solidFill>
                <a:srgbClr val="DDEEFF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282696" y="3602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Punjab</a:t>
            </a:r>
            <a:endParaRPr sz="3000" b="1" i="0">
              <a:solidFill>
                <a:srgbClr val="FFFFFF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3310128" y="4251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highest spend</a:t>
            </a:r>
            <a:endParaRPr sz="1000" b="0" i="0">
              <a:solidFill>
                <a:srgbClr val="CCE5FF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163056" y="3200400"/>
            <a:ext cx="2834640" cy="19202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63056" y="5056631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0216" y="3310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Top Procedure</a:t>
            </a:r>
            <a:endParaRPr sz="1100" b="0" i="0">
              <a:solidFill>
                <a:srgbClr val="DDEEFF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272784" y="3602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CPT35289</a:t>
            </a:r>
            <a:endParaRPr sz="3000" b="1" i="0">
              <a:solidFill>
                <a:srgbClr val="FFFFFF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300216" y="4251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417 uses</a:t>
            </a:r>
            <a:endParaRPr sz="1000" b="0" i="0">
              <a:solidFill>
                <a:srgbClr val="CCE5FF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9153144" y="3200400"/>
            <a:ext cx="2834640" cy="19202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53144" y="5056631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90304" y="3310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Payment Methods</a:t>
            </a:r>
            <a:endParaRPr sz="1100" b="0" i="0">
              <a:solidFill>
                <a:srgbClr val="DDEEFF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262872" y="3602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4 types</a:t>
            </a:r>
            <a:endParaRPr sz="3000" b="1" i="0">
              <a:solidFill>
                <a:srgbClr val="FFFFFF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290304" y="4251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equal split</a:t>
            </a:r>
            <a:endParaRPr sz="1000" b="0" i="0">
              <a:solidFill>
                <a:srgbClr val="CCE5FF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82880" y="5897880"/>
            <a:ext cx="1179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7"/>
                </a:solidFill>
              </a:rPr>
              <a:t>Source: warehouse.db  |  208,640 valid claims  |  ~12.5 million total rows across all tables</a:t>
            </a:r>
            <a:endParaRPr sz="1100" b="0" i="1">
              <a:solidFill>
                <a:srgbClr val="555F77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Analytics Visualizations  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Monthly trend  |  Top procedures  |  Denial rate  |  Length of stay</a:t>
            </a:r>
            <a:endParaRPr sz="1200" b="0" i="0">
              <a:solidFill>
                <a:srgbClr val="BBD6F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41248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841248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87782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Monthly Paid Amount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92608" y="115214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Consistent ~Rs 540M/month</a:t>
            </a:r>
            <a:endParaRPr sz="900" b="0" i="1">
              <a:solidFill>
                <a:srgbClr val="555F77"/>
              </a:solidFill>
            </a:endParaRPr>
          </a:p>
        </p:txBody>
      </p:sp>
      <p:pic>
        <p:nvPicPr>
          <p:cNvPr id="12" name="Picture 11" descr="01_monthly_pai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408176"/>
            <a:ext cx="5687568" cy="202996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90488" y="841248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841248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87782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Top 10 Procedures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00216" y="115214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CPT35289 highest at 417 uses</a:t>
            </a:r>
            <a:endParaRPr sz="900" b="0" i="1">
              <a:solidFill>
                <a:srgbClr val="555F77"/>
              </a:solidFill>
            </a:endParaRPr>
          </a:p>
        </p:txBody>
      </p:sp>
      <p:pic>
        <p:nvPicPr>
          <p:cNvPr id="17" name="Picture 16" descr="02_top_proced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08176"/>
            <a:ext cx="5687568" cy="2029968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182880" y="3749039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3749039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" y="378561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Denial Rate by Code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92608" y="405993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49.9% denied — D001/D002/D003</a:t>
            </a:r>
            <a:endParaRPr sz="900" b="0" i="1">
              <a:solidFill>
                <a:srgbClr val="555F77"/>
              </a:solidFill>
            </a:endParaRPr>
          </a:p>
        </p:txBody>
      </p:sp>
      <p:pic>
        <p:nvPicPr>
          <p:cNvPr id="22" name="Picture 21" descr="04_denial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4315968"/>
            <a:ext cx="5687568" cy="202996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190488" y="3749039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749039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0216" y="378561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Length of Stay (0-30 days)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00216" y="405993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Flat distribution across LOS</a:t>
            </a:r>
            <a:endParaRPr sz="900" b="0" i="1">
              <a:solidFill>
                <a:srgbClr val="555F77"/>
              </a:solidFill>
            </a:endParaRPr>
          </a:p>
        </p:txBody>
      </p:sp>
      <p:pic>
        <p:nvPicPr>
          <p:cNvPr id="27" name="Picture 26" descr="05_los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315968"/>
            <a:ext cx="5687568" cy="20299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Analytics Visualizations  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Provider performance  |  Geographic  |  Member utilisation  |  Payment methods</a:t>
            </a:r>
            <a:endParaRPr sz="1200" b="0" i="0">
              <a:solidFill>
                <a:srgbClr val="BBD6F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>
            <p:custDataLst>
              <p:tags r:id="rId1"/>
            </p:custDataLst>
          </p:nvPr>
        </p:nvSpPr>
        <p:spPr>
          <a:xfrm>
            <a:off x="182880" y="841248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>
            <p:custDataLst>
              <p:tags r:id="rId2"/>
            </p:custDataLst>
          </p:nvPr>
        </p:nvSpPr>
        <p:spPr>
          <a:xfrm>
            <a:off x="182880" y="841248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3"/>
            </p:custDataLst>
          </p:nvPr>
        </p:nvSpPr>
        <p:spPr>
          <a:xfrm>
            <a:off x="292608" y="87782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Provider Performance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>
            <p:custDataLst>
              <p:tags r:id="rId4"/>
            </p:custDataLst>
          </p:nvPr>
        </p:nvSpPr>
        <p:spPr>
          <a:xfrm>
            <a:off x="292608" y="115214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Some providers &gt;60% denial rate</a:t>
            </a:r>
            <a:endParaRPr sz="900" b="0" i="1">
              <a:solidFill>
                <a:srgbClr val="555F77"/>
              </a:solidFill>
            </a:endParaRPr>
          </a:p>
        </p:txBody>
      </p:sp>
      <p:pic>
        <p:nvPicPr>
          <p:cNvPr id="12" name="Picture 11" descr="03_provider_performance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56032" y="1408176"/>
            <a:ext cx="5687568" cy="2029968"/>
          </a:xfrm>
          <a:prstGeom prst="rect">
            <a:avLst/>
          </a:prstGeom>
        </p:spPr>
      </p:pic>
      <p:sp>
        <p:nvSpPr>
          <p:cNvPr id="13" name="Rectangle 12"/>
          <p:cNvSpPr/>
          <p:nvPr>
            <p:custDataLst>
              <p:tags r:id="rId7"/>
            </p:custDataLst>
          </p:nvPr>
        </p:nvSpPr>
        <p:spPr>
          <a:xfrm>
            <a:off x="6190488" y="841248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>
            <p:custDataLst>
              <p:tags r:id="rId8"/>
            </p:custDataLst>
          </p:nvPr>
        </p:nvSpPr>
        <p:spPr>
          <a:xfrm>
            <a:off x="6190488" y="841248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6300216" y="87782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Paid by State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>
            <p:custDataLst>
              <p:tags r:id="rId10"/>
            </p:custDataLst>
          </p:nvPr>
        </p:nvSpPr>
        <p:spPr>
          <a:xfrm>
            <a:off x="6300216" y="115214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Punjab &amp; Odisha lead</a:t>
            </a:r>
            <a:endParaRPr sz="900" b="0" i="1">
              <a:solidFill>
                <a:srgbClr val="555F77"/>
              </a:solidFill>
            </a:endParaRPr>
          </a:p>
        </p:txBody>
      </p:sp>
      <p:pic>
        <p:nvPicPr>
          <p:cNvPr id="17" name="Picture 16" descr="07_geographic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6263640" y="1408176"/>
            <a:ext cx="5687568" cy="2029968"/>
          </a:xfrm>
          <a:prstGeom prst="rect">
            <a:avLst/>
          </a:prstGeom>
        </p:spPr>
      </p:pic>
      <p:sp>
        <p:nvSpPr>
          <p:cNvPr id="18" name="Rectangle 17"/>
          <p:cNvSpPr/>
          <p:nvPr>
            <p:custDataLst>
              <p:tags r:id="rId13"/>
            </p:custDataLst>
          </p:nvPr>
        </p:nvSpPr>
        <p:spPr>
          <a:xfrm>
            <a:off x="182880" y="3749039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>
            <p:custDataLst>
              <p:tags r:id="rId14"/>
            </p:custDataLst>
          </p:nvPr>
        </p:nvSpPr>
        <p:spPr>
          <a:xfrm>
            <a:off x="182880" y="3749039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>
            <p:custDataLst>
              <p:tags r:id="rId15"/>
            </p:custDataLst>
          </p:nvPr>
        </p:nvSpPr>
        <p:spPr>
          <a:xfrm>
            <a:off x="292608" y="378561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Member Utilisation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>
            <p:custDataLst>
              <p:tags r:id="rId16"/>
            </p:custDataLst>
          </p:nvPr>
        </p:nvSpPr>
        <p:spPr>
          <a:xfrm>
            <a:off x="292608" y="405993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High-spend members by gender</a:t>
            </a:r>
            <a:endParaRPr sz="900" b="0" i="1">
              <a:solidFill>
                <a:srgbClr val="555F77"/>
              </a:solidFill>
            </a:endParaRPr>
          </a:p>
        </p:txBody>
      </p:sp>
      <p:pic>
        <p:nvPicPr>
          <p:cNvPr id="22" name="Picture 21" descr="06_member_utilisation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256032" y="4315968"/>
            <a:ext cx="5687568" cy="2029968"/>
          </a:xfrm>
          <a:prstGeom prst="rect">
            <a:avLst/>
          </a:prstGeom>
        </p:spPr>
      </p:pic>
      <p:sp>
        <p:nvSpPr>
          <p:cNvPr id="23" name="Rectangle 22"/>
          <p:cNvSpPr/>
          <p:nvPr>
            <p:custDataLst>
              <p:tags r:id="rId19"/>
            </p:custDataLst>
          </p:nvPr>
        </p:nvSpPr>
        <p:spPr>
          <a:xfrm>
            <a:off x="6190488" y="3749039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>
            <p:custDataLst>
              <p:tags r:id="rId20"/>
            </p:custDataLst>
          </p:nvPr>
        </p:nvSpPr>
        <p:spPr>
          <a:xfrm>
            <a:off x="6190488" y="3749039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>
            <p:custDataLst>
              <p:tags r:id="rId21"/>
            </p:custDataLst>
          </p:nvPr>
        </p:nvSpPr>
        <p:spPr>
          <a:xfrm>
            <a:off x="6300216" y="378561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Payment Methods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26" name="TextBox 25"/>
          <p:cNvSpPr txBox="1"/>
          <p:nvPr>
            <p:custDataLst>
              <p:tags r:id="rId22"/>
            </p:custDataLst>
          </p:nvPr>
        </p:nvSpPr>
        <p:spPr>
          <a:xfrm>
            <a:off x="6300216" y="405993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NEFT/UPI/RTGS/Cheque equal split</a:t>
            </a:r>
            <a:endParaRPr sz="900" b="0" i="1">
              <a:solidFill>
                <a:srgbClr val="555F77"/>
              </a:solidFill>
            </a:endParaRPr>
          </a:p>
        </p:txBody>
      </p:sp>
      <p:pic>
        <p:nvPicPr>
          <p:cNvPr id="27" name="Picture 26" descr="08_payment_methods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7367270" y="4316095"/>
            <a:ext cx="2938145" cy="20300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Optimisation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Database indexes + vectorised Pandas + masking impact</a:t>
            </a:r>
            <a:endParaRPr sz="1200" b="0" i="0">
              <a:solidFill>
                <a:srgbClr val="BBD6F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41248"/>
            <a:ext cx="5623560" cy="31546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841248"/>
            <a:ext cx="91440" cy="315468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8961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FC4"/>
                </a:solidFill>
              </a:rPr>
              <a:t>Database Indexes  (in DDL)</a:t>
            </a:r>
            <a:endParaRPr sz="1300" b="1" i="0">
              <a:solidFill>
                <a:srgbClr val="1A6FC4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5760" y="1280160"/>
            <a:ext cx="1892808" cy="292608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31673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Index</a:t>
            </a:r>
            <a:endParaRPr sz="900" b="1" i="0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286000" y="1280160"/>
            <a:ext cx="1801368" cy="292608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9152" y="1316736"/>
            <a:ext cx="16824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Table</a:t>
            </a:r>
            <a:endParaRPr sz="900" b="1" i="0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114800" y="1280160"/>
            <a:ext cx="1389888" cy="292608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87952" y="1316736"/>
            <a:ext cx="127101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Column</a:t>
            </a:r>
            <a:endParaRPr sz="900" b="1" i="0">
              <a:solidFill>
                <a:srgbClr val="FFFFFF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" y="1591056"/>
            <a:ext cx="189280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162763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idx_fc_member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286000" y="1591056"/>
            <a:ext cx="180136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59152" y="162763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114800" y="1591056"/>
            <a:ext cx="138988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87952" y="162763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member_id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5760" y="1865376"/>
            <a:ext cx="189280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190195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idx_fc_provider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286000" y="1865376"/>
            <a:ext cx="180136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59152" y="190195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114800" y="1865376"/>
            <a:ext cx="138988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87952" y="190195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provider_id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2139696"/>
            <a:ext cx="189280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217627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idx_fc_admit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286000" y="2139696"/>
            <a:ext cx="180136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59152" y="217627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114800" y="2139696"/>
            <a:ext cx="138988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87952" y="217627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admit_date_key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65760" y="2414015"/>
            <a:ext cx="189280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2450591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idx_fc_denied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2286000" y="2414015"/>
            <a:ext cx="180136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59152" y="2450591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114800" y="2414015"/>
            <a:ext cx="138988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87952" y="2450591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is_denied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" y="2688336"/>
            <a:ext cx="189280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" y="272491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idx_fcl_claim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286000" y="2688336"/>
            <a:ext cx="180136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59152" y="272491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fact_claim_line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4114800" y="2688336"/>
            <a:ext cx="138988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87952" y="272491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claim_number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365760" y="2962656"/>
            <a:ext cx="189280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299923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idx_fp_claim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286000" y="2962656"/>
            <a:ext cx="180136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59152" y="299923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fact_payment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4114800" y="2962656"/>
            <a:ext cx="138988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87952" y="299923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claim_number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365760" y="3236976"/>
            <a:ext cx="189280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8912" y="327355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idx_dp_specialty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286000" y="3236976"/>
            <a:ext cx="180136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59152" y="327355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dim_provider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114800" y="3236976"/>
            <a:ext cx="138988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87952" y="327355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specialty</a:t>
            </a:r>
            <a:endParaRPr sz="900" b="0" i="0">
              <a:solidFill>
                <a:srgbClr val="121A2E"/>
              </a:solidFill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5989320" y="841248"/>
            <a:ext cx="5989320" cy="31546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989320" y="841248"/>
            <a:ext cx="91440" cy="3154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17920" y="89611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</a:rPr>
              <a:t>Vectorised Pandas Operations</a:t>
            </a:r>
            <a:endParaRPr sz="1300" b="1" i="0">
              <a:solidFill>
                <a:srgbClr val="2E7D32"/>
              </a:solidFill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6126480" y="1298448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2" y="1325880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pd.to_numeric(col, errors='coerce')</a:t>
            </a:r>
            <a:endParaRPr sz="900" b="1" i="0">
              <a:solidFill>
                <a:srgbClr val="121A2E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99632" y="1517904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Converts entire column at once — no row loops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6126480" y="1773936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99632" y="1801368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pd.to_datetime(col, errors='coerce')</a:t>
            </a:r>
            <a:endParaRPr sz="900" b="1" i="0">
              <a:solidFill>
                <a:srgbClr val="121A2E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199632" y="199339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Parses all dates in single operation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6126480" y="2249424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99632" y="2276856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df[boolean_mask]</a:t>
            </a:r>
            <a:endParaRPr sz="900" b="1" i="0">
              <a:solidFill>
                <a:srgbClr val="121A2E"/>
              </a:solidFill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199632" y="2468880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Filters millions of rows instantly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6126480" y="2724912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99632" y="2752344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Series.map(dictionary)</a:t>
            </a:r>
            <a:endParaRPr sz="900" b="1" i="0">
              <a:solidFill>
                <a:srgbClr val="121A2E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199632" y="2944368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Remaps FK columns — 100x faster than apply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6126480" y="3200400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99632" y="322783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pd.concat + drop_duplicates</a:t>
            </a:r>
            <a:endParaRPr sz="900" b="1" i="0">
              <a:solidFill>
                <a:srgbClr val="121A2E"/>
              </a:solidFill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199632" y="3419856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Deduplication across full entity datasets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182880" y="4160520"/>
            <a:ext cx="11795760" cy="14173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82880" y="4160520"/>
            <a:ext cx="91440" cy="14173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422452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7C00"/>
                </a:solidFill>
              </a:rPr>
              <a:t>Masking Impact on Analytics</a:t>
            </a:r>
            <a:endParaRPr sz="1300" b="1" i="0">
              <a:solidFill>
                <a:srgbClr val="F57C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11480" y="46177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1A2E"/>
                </a:solidFill>
              </a:rPr>
              <a:t>Deterministic masking means member_id 'M0000001' ALWAYS becomes 'MBR3F9A2C1D4E'  -&gt;  JOINs between fact_claim, dim_member and dim_provider work correctly.
City/state kept clear  -&gt;  geographic analysis fully functional.   DOB -&gt; birth_year  -&gt;  age band analysis still possible.</a:t>
            </a:r>
            <a:endParaRPr sz="1200" b="0" i="0">
              <a:solidFill>
                <a:srgbClr val="121A2E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82880" y="5742432"/>
            <a:ext cx="1179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7"/>
                </a:solidFill>
              </a:rPr>
              <a:t>Full ETL run: ~3-5 min on laptop  |  Incremental: seconds  |  Warehouse: 9 tables, ~12.5M rows</a:t>
            </a:r>
            <a:endParaRPr sz="1100" b="0" i="1">
              <a:solidFill>
                <a:srgbClr val="555F77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Project Deliverables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All required outputs per the capstone document</a:t>
            </a:r>
            <a:endParaRPr sz="1200" b="0" i="0">
              <a:solidFill>
                <a:srgbClr val="BBD6F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6868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868680"/>
            <a:ext cx="73152" cy="43891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978407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978407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  <a:endParaRPr sz="800" b="1" i="0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89611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Star Schema Design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21792" y="11064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01_star_schema_ddl.sql — 9 tables with FK indexes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172200" y="86868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868680"/>
            <a:ext cx="73152" cy="43891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978407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978407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  <a:endParaRPr sz="800" b="1" i="0">
              <a:solidFill>
                <a:srgbClr val="FFFFFF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11112" y="89611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ER Diagram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11112" y="11064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Entity relationships across all 7 source tables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82880" y="137160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2880" y="1371600"/>
            <a:ext cx="73152" cy="43891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148132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148132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  <a:endParaRPr sz="800" b="1" i="0">
              <a:solidFill>
                <a:srgbClr val="FFFFFF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21792" y="139903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Analytical SQL Queries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1792" y="160934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02_analytical_queries.sql — 10 business queries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172200" y="137160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1371600"/>
            <a:ext cx="73152" cy="4389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148132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148132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  <a:endParaRPr sz="800" b="1" i="0">
              <a:solidFill>
                <a:srgbClr val="FFFFFF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611112" y="139903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Data Profiling Report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11112" y="160934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logs/profiling_summary.json — quality findings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82880" y="1874519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1874519"/>
            <a:ext cx="73152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" y="198424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" y="198424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  <a:endParaRPr sz="800" b="1" i="0">
              <a:solidFill>
                <a:srgbClr val="FFFFFF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21792" y="1901951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ETL Full Load Script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21792" y="211226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step4_load_full.py — drops + reloads everything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172200" y="1874519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1874519"/>
            <a:ext cx="73152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198424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8504" y="198424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  <a:endParaRPr sz="800" b="1" i="0">
              <a:solidFill>
                <a:srgbClr val="FFFFFF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611112" y="1901951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ETL Incremental Load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611112" y="211226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step5_load_incremental.py — watermark-based new rows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182880" y="237744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82880" y="2377440"/>
            <a:ext cx="73152" cy="43891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0040" y="248716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9184" y="24871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  <a:endParaRPr sz="800" b="1" i="0">
              <a:solidFill>
                <a:srgbClr val="FFFFFF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21792" y="240487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Data Masking Logic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21792" y="261518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step3_mask.py — HMAC-SHA256 deterministic hashing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6172200" y="237744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72200" y="2377440"/>
            <a:ext cx="73152" cy="43891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09360" y="248716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24871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  <a:endParaRPr sz="800" b="1" i="0">
              <a:solidFill>
                <a:srgbClr val="FFFFFF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611112" y="240487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Masking Audit Log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611112" y="261518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logs/masking_audit.json — fields masked + counts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82880" y="288036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82880" y="2880360"/>
            <a:ext cx="73152" cy="43891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" y="299008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9184" y="299008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  <a:endParaRPr sz="800" b="1" i="0">
              <a:solidFill>
                <a:srgbClr val="FFFFFF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621792" y="290779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Error / Rejection Logs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21792" y="311810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output/rejected_rows/*.csv — 7 audit files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6172200" y="288036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172200" y="2880360"/>
            <a:ext cx="73152" cy="4389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09360" y="299008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99008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  <a:endParaRPr sz="800" b="1" i="0">
              <a:solidFill>
                <a:srgbClr val="FFFFFF"/>
              </a:soli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611112" y="290779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Python Analytics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611112" y="311810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analytics.py — 9 queries + CSV results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182880" y="338328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82880" y="3383280"/>
            <a:ext cx="73152" cy="4389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0040" y="349300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9184" y="349300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  <a:endParaRPr sz="800" b="1" i="0">
              <a:solidFill>
                <a:srgbClr val="FFFFFF"/>
              </a:solidFill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621792" y="341071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8 Matplotlib Charts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21792" y="3621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output/charts/*.png — all visualisations saved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6172200" y="338328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72200" y="3383280"/>
            <a:ext cx="73152" cy="43891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09360" y="349300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49300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  <a:endParaRPr sz="800" b="1" i="0">
              <a:solidFill>
                <a:srgbClr val="FFFFFF"/>
              </a:solidFill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6611112" y="341071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Jupyter Notebook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611112" y="3621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analytics_notebook.ipynb — interactive analysis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182880" y="388620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82880" y="3886200"/>
            <a:ext cx="73152" cy="4389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20040" y="399592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29184" y="399592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  <a:endParaRPr sz="800" b="1" i="0">
              <a:solidFill>
                <a:srgbClr val="FFFFFF"/>
              </a:solidFill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21792" y="391363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Optimisation Summary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621792" y="412394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Indexes + vectorised Pandas + masking impact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6172200" y="388620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172200" y="3886200"/>
            <a:ext cx="73152" cy="43891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309360" y="399592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318504" y="399592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  <a:endParaRPr sz="800" b="1" i="0">
              <a:solidFill>
                <a:srgbClr val="FFFFFF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611112" y="391363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GitHub Repository</a:t>
            </a:r>
            <a:endParaRPr sz="1100" b="1" i="0">
              <a:solidFill>
                <a:srgbClr val="0D1B3E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611112" y="412394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https://github.com/mhgowda/healthcare-insurance-dw-capstone</a:t>
            </a:r>
            <a:endParaRPr sz="900" b="0" i="1">
              <a:solidFill>
                <a:srgbClr val="555F77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82880" y="644652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6FC4"/>
                </a:solidFill>
              </a:rPr>
              <a:t>GitHub: https://github.com/mhgowda/healthcare-insurance-dw-capstone</a:t>
            </a:r>
            <a:endParaRPr sz="1100" b="1" i="0">
              <a:solidFill>
                <a:srgbClr val="1A6FC4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9418320" cy="119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200" b="1" i="0">
                <a:solidFill>
                  <a:srgbClr val="FFFFFF"/>
                </a:solidFill>
              </a:rPr>
              <a:t>       </a:t>
            </a:r>
            <a:r>
              <a:rPr sz="7200" b="1" i="0">
                <a:solidFill>
                  <a:srgbClr val="FFFFFF"/>
                </a:solidFill>
              </a:rPr>
              <a:t>Thank You</a:t>
            </a:r>
            <a:endParaRPr sz="7200" b="1" i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941832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b="0" i="0">
                <a:solidFill>
                  <a:srgbClr val="00BFA5"/>
                </a:solidFill>
              </a:rPr>
              <a:t>                 </a:t>
            </a:r>
            <a:r>
              <a:rPr sz="2600" b="0" i="0">
                <a:solidFill>
                  <a:srgbClr val="00BFA5"/>
                </a:solidFill>
              </a:rPr>
              <a:t>Questions &amp; Discussion</a:t>
            </a:r>
            <a:endParaRPr sz="2600" b="0" i="0">
              <a:solidFill>
                <a:srgbClr val="00BFA5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828800" y="3840480"/>
            <a:ext cx="8229600" cy="54864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1"/>
            </p:custDataLst>
          </p:nvPr>
        </p:nvSpPr>
        <p:spPr>
          <a:xfrm>
            <a:off x="980440" y="5212080"/>
            <a:ext cx="2103120" cy="123444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2"/>
            </p:custDataLst>
          </p:nvPr>
        </p:nvSpPr>
        <p:spPr>
          <a:xfrm>
            <a:off x="1071880" y="5285232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</a:rPr>
              <a:t>1.4M</a:t>
            </a:r>
            <a:endParaRPr sz="2600" b="1" i="0">
              <a:solidFill>
                <a:srgbClr val="FFB300"/>
              </a:solidFill>
            </a:endParaRPr>
          </a:p>
        </p:txBody>
      </p:sp>
      <p:sp>
        <p:nvSpPr>
          <p:cNvPr id="13" name="TextBox 12"/>
          <p:cNvSpPr txBox="1"/>
          <p:nvPr>
            <p:custDataLst>
              <p:tags r:id="rId3"/>
            </p:custDataLst>
          </p:nvPr>
        </p:nvSpPr>
        <p:spPr>
          <a:xfrm>
            <a:off x="1071880" y="5870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6F5"/>
                </a:solidFill>
              </a:rPr>
              <a:t>Source Rows</a:t>
            </a:r>
            <a:endParaRPr sz="1000" b="0" i="0">
              <a:solidFill>
                <a:srgbClr val="BBD6F5"/>
              </a:solidFill>
            </a:endParaRPr>
          </a:p>
        </p:txBody>
      </p:sp>
      <p:sp>
        <p:nvSpPr>
          <p:cNvPr id="14" name="Rectangle 13"/>
          <p:cNvSpPr/>
          <p:nvPr>
            <p:custDataLst>
              <p:tags r:id="rId4"/>
            </p:custDataLst>
          </p:nvPr>
        </p:nvSpPr>
        <p:spPr>
          <a:xfrm>
            <a:off x="3673475" y="5212080"/>
            <a:ext cx="2103120" cy="123444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5"/>
            </p:custDataLst>
          </p:nvPr>
        </p:nvSpPr>
        <p:spPr>
          <a:xfrm>
            <a:off x="3764915" y="5285232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</a:rPr>
              <a:t>9</a:t>
            </a:r>
            <a:endParaRPr sz="2600" b="1" i="0">
              <a:solidFill>
                <a:srgbClr val="FFB300"/>
              </a:solidFill>
            </a:endParaRPr>
          </a:p>
        </p:txBody>
      </p:sp>
      <p:sp>
        <p:nvSpPr>
          <p:cNvPr id="16" name="TextBox 15"/>
          <p:cNvSpPr txBox="1"/>
          <p:nvPr>
            <p:custDataLst>
              <p:tags r:id="rId6"/>
            </p:custDataLst>
          </p:nvPr>
        </p:nvSpPr>
        <p:spPr>
          <a:xfrm>
            <a:off x="3764915" y="5870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6F5"/>
                </a:solidFill>
              </a:rPr>
              <a:t>DW Tables</a:t>
            </a:r>
            <a:endParaRPr sz="1000" b="0" i="0">
              <a:solidFill>
                <a:srgbClr val="BBD6F5"/>
              </a:solidFill>
            </a:endParaRPr>
          </a:p>
        </p:txBody>
      </p:sp>
      <p:sp>
        <p:nvSpPr>
          <p:cNvPr id="17" name="Rectangle 16"/>
          <p:cNvSpPr/>
          <p:nvPr>
            <p:custDataLst>
              <p:tags r:id="rId7"/>
            </p:custDataLst>
          </p:nvPr>
        </p:nvSpPr>
        <p:spPr>
          <a:xfrm>
            <a:off x="6279515" y="5212080"/>
            <a:ext cx="2103120" cy="123444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8"/>
            </p:custDataLst>
          </p:nvPr>
        </p:nvSpPr>
        <p:spPr>
          <a:xfrm>
            <a:off x="6370955" y="5285232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</a:rPr>
              <a:t>17.9%</a:t>
            </a:r>
            <a:endParaRPr sz="2600" b="1" i="0">
              <a:solidFill>
                <a:srgbClr val="FFB300"/>
              </a:solidFill>
            </a:endParaRPr>
          </a:p>
        </p:txBody>
      </p:sp>
      <p:sp>
        <p:nvSpPr>
          <p:cNvPr id="19" name="TextBox 18"/>
          <p:cNvSpPr txBox="1"/>
          <p:nvPr>
            <p:custDataLst>
              <p:tags r:id="rId9"/>
            </p:custDataLst>
          </p:nvPr>
        </p:nvSpPr>
        <p:spPr>
          <a:xfrm>
            <a:off x="6370955" y="5870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6F5"/>
                </a:solidFill>
              </a:rPr>
              <a:t>Rejected</a:t>
            </a:r>
            <a:endParaRPr sz="1000" b="0" i="0">
              <a:solidFill>
                <a:srgbClr val="BBD6F5"/>
              </a:solidFill>
            </a:endParaRPr>
          </a:p>
        </p:txBody>
      </p:sp>
      <p:sp>
        <p:nvSpPr>
          <p:cNvPr id="23" name="Rectangle 22"/>
          <p:cNvSpPr/>
          <p:nvPr>
            <p:custDataLst>
              <p:tags r:id="rId10"/>
            </p:custDataLst>
          </p:nvPr>
        </p:nvSpPr>
        <p:spPr>
          <a:xfrm>
            <a:off x="8885555" y="5202555"/>
            <a:ext cx="2103120" cy="123444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>
            <p:custDataLst>
              <p:tags r:id="rId11"/>
            </p:custDataLst>
          </p:nvPr>
        </p:nvSpPr>
        <p:spPr>
          <a:xfrm>
            <a:off x="8976995" y="5275707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</a:rPr>
              <a:t>8</a:t>
            </a:r>
            <a:endParaRPr sz="2600" b="1" i="0">
              <a:solidFill>
                <a:srgbClr val="FFB300"/>
              </a:solidFill>
            </a:endParaRPr>
          </a:p>
        </p:txBody>
      </p:sp>
      <p:sp>
        <p:nvSpPr>
          <p:cNvPr id="25" name="TextBox 24"/>
          <p:cNvSpPr txBox="1"/>
          <p:nvPr>
            <p:custDataLst>
              <p:tags r:id="rId12"/>
            </p:custDataLst>
          </p:nvPr>
        </p:nvSpPr>
        <p:spPr>
          <a:xfrm>
            <a:off x="8976995" y="5860923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6F5"/>
                </a:solidFill>
              </a:rPr>
              <a:t>Charts</a:t>
            </a:r>
            <a:endParaRPr sz="1000" b="0" i="0">
              <a:solidFill>
                <a:srgbClr val="BBD6F5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77"/>
                </a:solidFill>
              </a:rPr>
              <a:t>Midterm Capstone  |  Group 5  |  Batch 2024-25</a:t>
            </a:r>
            <a:endParaRPr sz="1100" b="0" i="0">
              <a:solidFill>
                <a:srgbClr val="555F77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2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3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4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5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6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7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8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9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10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11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12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13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14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15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16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17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18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19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20.xml><?xml version="1.0" encoding="utf-8"?>
<p:tagLst xmlns:p="http://schemas.openxmlformats.org/presentationml/2006/main">
  <p:tag name="KSO_WM_DIAGRAM_VIRTUALLY_FRAME" val="{&quot;height&quot;:441.3599212598425,&quot;left&quot;:14.4,&quot;top&quot;:66.24,&quot;width&quot;:932.4}"/>
</p:tagLst>
</file>

<file path=ppt/tags/tag21.xml><?xml version="1.0" encoding="utf-8"?>
<p:tagLst xmlns:p="http://schemas.openxmlformats.org/presentationml/2006/main">
  <p:tag name="KSO_WM_DIAGRAM_VIRTUALLY_FRAME" val="{&quot;height&quot;:97.2,&quot;left&quot;:36,&quot;top&quot;:410.4,&quot;width&quot;:871.2}"/>
</p:tagLst>
</file>

<file path=ppt/tags/tag22.xml><?xml version="1.0" encoding="utf-8"?>
<p:tagLst xmlns:p="http://schemas.openxmlformats.org/presentationml/2006/main">
  <p:tag name="KSO_WM_DIAGRAM_VIRTUALLY_FRAME" val="{&quot;height&quot;:97.2,&quot;left&quot;:36,&quot;top&quot;:410.4,&quot;width&quot;:871.2}"/>
</p:tagLst>
</file>

<file path=ppt/tags/tag23.xml><?xml version="1.0" encoding="utf-8"?>
<p:tagLst xmlns:p="http://schemas.openxmlformats.org/presentationml/2006/main">
  <p:tag name="KSO_WM_DIAGRAM_VIRTUALLY_FRAME" val="{&quot;height&quot;:97.2,&quot;left&quot;:36,&quot;top&quot;:410.4,&quot;width&quot;:871.2}"/>
</p:tagLst>
</file>

<file path=ppt/tags/tag24.xml><?xml version="1.0" encoding="utf-8"?>
<p:tagLst xmlns:p="http://schemas.openxmlformats.org/presentationml/2006/main">
  <p:tag name="KSO_WM_DIAGRAM_VIRTUALLY_FRAME" val="{&quot;height&quot;:97.2,&quot;left&quot;:36,&quot;top&quot;:410.4,&quot;width&quot;:871.2}"/>
</p:tagLst>
</file>

<file path=ppt/tags/tag25.xml><?xml version="1.0" encoding="utf-8"?>
<p:tagLst xmlns:p="http://schemas.openxmlformats.org/presentationml/2006/main">
  <p:tag name="KSO_WM_DIAGRAM_VIRTUALLY_FRAME" val="{&quot;height&quot;:97.2,&quot;left&quot;:36,&quot;top&quot;:410.4,&quot;width&quot;:871.2}"/>
</p:tagLst>
</file>

<file path=ppt/tags/tag26.xml><?xml version="1.0" encoding="utf-8"?>
<p:tagLst xmlns:p="http://schemas.openxmlformats.org/presentationml/2006/main">
  <p:tag name="KSO_WM_DIAGRAM_VIRTUALLY_FRAME" val="{&quot;height&quot;:97.2,&quot;left&quot;:36,&quot;top&quot;:410.4,&quot;width&quot;:871.2}"/>
</p:tagLst>
</file>

<file path=ppt/tags/tag27.xml><?xml version="1.0" encoding="utf-8"?>
<p:tagLst xmlns:p="http://schemas.openxmlformats.org/presentationml/2006/main">
  <p:tag name="KSO_WM_DIAGRAM_VIRTUALLY_FRAME" val="{&quot;height&quot;:97.2,&quot;left&quot;:36,&quot;top&quot;:410.4,&quot;width&quot;:871.2}"/>
</p:tagLst>
</file>

<file path=ppt/tags/tag28.xml><?xml version="1.0" encoding="utf-8"?>
<p:tagLst xmlns:p="http://schemas.openxmlformats.org/presentationml/2006/main">
  <p:tag name="KSO_WM_DIAGRAM_VIRTUALLY_FRAME" val="{&quot;height&quot;:97.2,&quot;left&quot;:36,&quot;top&quot;:410.4,&quot;width&quot;:871.2}"/>
</p:tagLst>
</file>

<file path=ppt/tags/tag29.xml><?xml version="1.0" encoding="utf-8"?>
<p:tagLst xmlns:p="http://schemas.openxmlformats.org/presentationml/2006/main">
  <p:tag name="KSO_WM_DIAGRAM_VIRTUALLY_FRAME" val="{&quot;height&quot;:97.2,&quot;left&quot;:36,&quot;top&quot;:410.4,&quot;width&quot;:871.2}"/>
</p:tagLst>
</file>

<file path=ppt/tags/tag30.xml><?xml version="1.0" encoding="utf-8"?>
<p:tagLst xmlns:p="http://schemas.openxmlformats.org/presentationml/2006/main">
  <p:tag name="KSO_WM_DIAGRAM_VIRTUALLY_FRAME" val="{&quot;height&quot;:97.2,&quot;left&quot;:36,&quot;top&quot;:410.4,&quot;width&quot;:871.2}"/>
</p:tagLst>
</file>

<file path=ppt/tags/tag31.xml><?xml version="1.0" encoding="utf-8"?>
<p:tagLst xmlns:p="http://schemas.openxmlformats.org/presentationml/2006/main">
  <p:tag name="KSO_WM_DIAGRAM_VIRTUALLY_FRAME" val="{&quot;height&quot;:97.2,&quot;left&quot;:36,&quot;top&quot;:410.4,&quot;width&quot;:871.2}"/>
</p:tagLst>
</file>

<file path=ppt/tags/tag32.xml><?xml version="1.0" encoding="utf-8"?>
<p:tagLst xmlns:p="http://schemas.openxmlformats.org/presentationml/2006/main">
  <p:tag name="KSO_WM_DIAGRAM_VIRTUALLY_FRAME" val="{&quot;height&quot;:97.2,&quot;left&quot;:36,&quot;top&quot;:410.4,&quot;width&quot;:871.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10678</Words>
  <Application>WPS Presentation</Application>
  <PresentationFormat>On-screen Show (4:3)</PresentationFormat>
  <Paragraphs>1156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mhgow</cp:lastModifiedBy>
  <cp:revision>3</cp:revision>
  <dcterms:created xsi:type="dcterms:W3CDTF">2013-01-27T09:14:00Z</dcterms:created>
  <dcterms:modified xsi:type="dcterms:W3CDTF">2026-09-13T15:06:47Z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73250F088F104CAD92CD30396FF0513E_12</vt:lpwstr>
  </property>
  <property fmtid="{D5CDD505-2E9C-101B-9397-08002B2CF9AE}" pid="3" name="KSOProductBuildVer">
    <vt:lpwstr>2057-12.2.0.23206</vt:lpwstr>
  </property>
</Properties>
</file>