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0"/>
            <a:ext cx="2130552" cy="685800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FA5"/>
                </a:solidFill>
              </a:rPr>
              <a:t>MIDTERM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Healthcare Insurance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BBD6F5"/>
                </a:solidFill>
              </a:rPr>
              <a:t>Claims Data Warehouse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8211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BBD6F5"/>
                </a:solidFill>
              </a:rPr>
              <a:t>&amp; Analytics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60520"/>
            <a:ext cx="68580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F77"/>
                </a:solidFill>
              </a:rPr>
              <a:t>SQL  |  Python  |  ETL Pipeline  |  Star Schema  |  Data Masking  |  Visualization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Group 5  |  Batch 2024-25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49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7"/>
                </a:solidFill>
              </a:rPr>
              <a:t>Midterm Capstone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11887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1.4M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Source Rows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24160" y="21945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0" y="2560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DW Tables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24160" y="35661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39319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572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Charts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49377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End-to-end healthcare insurance claims data warehouse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868680"/>
            <a:ext cx="11640312" cy="1417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868680"/>
            <a:ext cx="91440" cy="14173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914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Business 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A national health insurer needs a centralized Data Warehouse to analyze claims costs, utilisation, provider performance and fraud indicators — while fully protecting patient privacy (PII/PHI). Source data arrives as 7 CSV files with ~1.4 million rows containing intentional quality issues including missing values, orphan foreign keys, and type mismatches.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6888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Star Schema
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Model a DW with
dims + facts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2468880"/>
            <a:ext cx="2834640" cy="19202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ETL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Full + Incremental
load with audit logs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468880"/>
            <a:ext cx="2834640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 Masking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Protect PII/PHI
preserve join keys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2468880"/>
            <a:ext cx="2834640" cy="192024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897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94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Analytics
&amp; Charts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94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SQL + Python +
8 Matplotlib charts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6177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Technologies: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2240280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Python 3.10+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33472" y="5010912"/>
            <a:ext cx="2240280" cy="5029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0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Pandas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92624" y="5010912"/>
            <a:ext cx="2240280" cy="5029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02352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SQLite / SQL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1776" y="5010912"/>
            <a:ext cx="2240280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61504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Matplotlib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10928" y="5010912"/>
            <a:ext cx="224028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20656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Jupyter Notebook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56692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Dataset: 7 CSV files  |  ~1.4 Million rows  |  1.2M clean + 0.2M intentionally imperfect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Source Data  –  7 CSV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OLTP-style extracts from the insurance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22960"/>
            <a:ext cx="262432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859536"/>
            <a:ext cx="25054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CSV 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822960"/>
            <a:ext cx="28986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7792" y="859536"/>
            <a:ext cx="277977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822960"/>
            <a:ext cx="97840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859536"/>
            <a:ext cx="85953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822960"/>
            <a:ext cx="161848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9712" y="859536"/>
            <a:ext cx="149961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Primary Key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822960"/>
            <a:ext cx="317296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859536"/>
            <a:ext cx="30540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Key Columns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234440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" y="1271016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members_merged.csv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234440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1271016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Patient/member master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1234440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33872" y="1271016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2,60,000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1234440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1271016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234440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1271016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name, DOB, email, phone, city, state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1728216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" y="1764792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providers_merged.csv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1728216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7792" y="1764792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Doctors and hospitals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0" y="1728216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1764792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1728216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9712" y="1764792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1728216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1764792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specialty, city, state, tax_id, license_no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" y="2221992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032" y="225856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claims_merged.csv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2221992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07792" y="2258568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Insurance claim headers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720" y="2221992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33872" y="2258568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2,40,000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2221992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9712" y="2258568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2221992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2258568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member_id, provider_id, admit_date, paid_amount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2715768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032" y="2752344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claim_lines_merged.csv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2715768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07792" y="2752344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Services inside each claim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2715768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33872" y="2752344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7,60,000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66560" y="2715768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39712" y="2752344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line_id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715768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85632" y="2752344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procedure_code, units, rate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3209544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6032" y="3246120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payments_merged.csv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4640" y="3209544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07792" y="3246120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 on claims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60720" y="3209544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33872" y="3246120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1,00,000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209544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9712" y="3246120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payment_id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12480" y="3209544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85632" y="3246120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payment_date, paid_amount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" y="3703320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6032" y="3739896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diagnoses_merged.csv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34640" y="3703320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07792" y="3739896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ICD diagnosis codes per claim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3703320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833872" y="3739896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60" y="3703320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39712" y="3739896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diag_id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12480" y="3703320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85632" y="3739896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diagnosis_code, icd_version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197096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032" y="4233672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procedures_merged.csv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197096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07792" y="4233672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CPT codes per claim line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60720" y="4197096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833872" y="4233672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4197096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39712" y="4233672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proc_id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12480" y="4197096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85632" y="4233672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line_id, procedure_code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2880" y="4709160"/>
            <a:ext cx="262432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6032" y="4745736"/>
            <a:ext cx="250545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40" y="4709160"/>
            <a:ext cx="289864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07792" y="4745736"/>
            <a:ext cx="277977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7 source entities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760720" y="4709160"/>
            <a:ext cx="97840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833872" y="4745736"/>
            <a:ext cx="859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~14,00,000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0" y="4709160"/>
            <a:ext cx="161848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39712" y="4745736"/>
            <a:ext cx="149961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412480" y="4709160"/>
            <a:ext cx="317296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85632" y="4745736"/>
            <a:ext cx="30540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1.2M clean + 0.2M imperfect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2880" y="5321808"/>
            <a:ext cx="3840480" cy="47548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92608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Missing Values: blank/NULL fields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160520" y="5321808"/>
            <a:ext cx="3840480" cy="47548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70248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Orphan FKs: __ORPHAN__ marker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138159" y="5321808"/>
            <a:ext cx="3840480" cy="47548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247887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Negative Amounts: invalid numbers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82880" y="5870448"/>
            <a:ext cx="3840480" cy="47548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92608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Future Dates: impossible timestamps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60520" y="5870448"/>
            <a:ext cx="3840480" cy="47548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270248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Duplicate Keys: repeated IDs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138159" y="5870448"/>
            <a:ext cx="384048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247887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Type Mismatches: text in numbers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Entity Relationship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Source system — table structures and foreign key relationships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" y="822960"/>
            <a:ext cx="3858768" cy="2592324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4592" y="841248"/>
            <a:ext cx="3822191" cy="329184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896112"/>
            <a:ext cx="365759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" y="1170432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4592" y="117043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9456" y="1216152"/>
            <a:ext cx="237744" cy="150876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" y="1211580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1216152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3" y="122529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1412748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4592" y="141274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1458468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first_name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3" y="1467612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" y="1655064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92" y="1655064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1700784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last_name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3" y="1709928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1897380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4592" y="189738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194310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email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3" y="195224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2139696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4592" y="2139696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2185415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phone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6663" y="2194560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" y="2382012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64592" y="238201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2427732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dob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26663" y="243687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" y="2624328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262432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2670048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6663" y="2679192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2866644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592" y="2866644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912363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state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26663" y="2921508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592" y="3108960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4592" y="310896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315468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is_active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26663" y="316382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BOOLEAN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42232" y="822960"/>
            <a:ext cx="3858768" cy="2592324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60520" y="841248"/>
            <a:ext cx="3822191" cy="32918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0248" y="896112"/>
            <a:ext cx="365759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CLAIMS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60520" y="1170432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60520" y="117043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15383" y="1216152"/>
            <a:ext cx="237744" cy="150876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15383" y="1211580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07992" y="1216152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22592" y="122529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60520" y="1412748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160520" y="141274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15383" y="1458468"/>
            <a:ext cx="237744" cy="15087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15383" y="1453895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07992" y="1458468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22592" y="1467612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1655064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60520" y="1655064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15383" y="1700784"/>
            <a:ext cx="237744" cy="15087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15383" y="1696212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07992" y="1700784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22592" y="1709928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60520" y="1897380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60520" y="189738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70248" y="194310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admit_date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22592" y="195224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60520" y="2139696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60520" y="2139696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70248" y="2185415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discharge_date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22592" y="2194560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60520" y="2382012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60520" y="238201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270248" y="2427732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length_of_stay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22592" y="243687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INT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2624328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160520" y="262432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70248" y="2670048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allowed_amount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22592" y="2679192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60520" y="2866644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160520" y="2866644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70248" y="2912363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paid_amount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22592" y="2921508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60520" y="3108960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160520" y="310896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70248" y="315468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denial_code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2592" y="316382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8160" y="822960"/>
            <a:ext cx="3858768" cy="1865376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56448" y="841248"/>
            <a:ext cx="3822191" cy="329184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66175" y="896112"/>
            <a:ext cx="365759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PAYMENTS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156448" y="1170432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156448" y="117043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1312" y="1216152"/>
            <a:ext cx="237744" cy="150876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11312" y="1211580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503920" y="1216152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payment_id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018519" y="122529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156448" y="1412748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156448" y="141274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211312" y="1458468"/>
            <a:ext cx="237744" cy="15087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211312" y="1453895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0" y="1458468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018519" y="1467612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56448" y="1655064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156448" y="1655064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266175" y="1700784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payment_date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018519" y="1709928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156448" y="1897380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156448" y="189738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66175" y="194310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payment_method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018519" y="195224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156448" y="2139696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156448" y="2139696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66175" y="2185415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paid_amount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18519" y="2194560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156448" y="2382012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56448" y="238201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66175" y="2427732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adjustment_code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018519" y="243687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46304" y="3579876"/>
            <a:ext cx="3858768" cy="2107691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64592" y="3598164"/>
            <a:ext cx="3822191" cy="32918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653028"/>
            <a:ext cx="365759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4592" y="3927348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64592" y="392734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9456" y="3973068"/>
            <a:ext cx="237744" cy="150876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19456" y="3968496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" y="3973068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26663" y="3982211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64592" y="4169663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64592" y="4169663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74320" y="4215383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provider_name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026663" y="4224527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64592" y="4411980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64592" y="441198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74320" y="445770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specialty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26663" y="446684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64592" y="4654296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4592" y="4654296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74320" y="4700016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city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26663" y="4709159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64592" y="4896612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" y="489661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74320" y="4942332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state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026663" y="495147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64592" y="5138928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4592" y="513892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74320" y="5184648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tax_id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026663" y="5193792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64592" y="5381244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64592" y="5381244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74320" y="5426964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license_no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026663" y="5436107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142232" y="3579876"/>
            <a:ext cx="3858768" cy="2107691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160520" y="3598164"/>
            <a:ext cx="3822191" cy="32918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270248" y="3653028"/>
            <a:ext cx="365759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CLAIM_LINES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4160520" y="3927348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160520" y="392734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15383" y="3973068"/>
            <a:ext cx="237744" cy="150876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215383" y="3968496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507992" y="3973068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line_id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022592" y="3982211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160520" y="4169663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160520" y="4169663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215383" y="4215383"/>
            <a:ext cx="237744" cy="15087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215383" y="4210812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07992" y="4215383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022592" y="4224527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160520" y="4411980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4160520" y="441198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270248" y="445770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service_date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022592" y="446684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60520" y="4654296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160520" y="4654296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4270248" y="4700016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procedure_code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022592" y="4709159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160520" y="4896612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160520" y="4896612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70248" y="4942332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units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022592" y="4951476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INT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160520" y="5138928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60520" y="513892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270248" y="5184648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rate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22592" y="5193792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160520" y="5381244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160520" y="5381244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270248" y="5426964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line_amount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022592" y="5436107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8138160" y="3579876"/>
            <a:ext cx="3858768" cy="1380744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156448" y="3598164"/>
            <a:ext cx="3822191" cy="329184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266175" y="3653028"/>
            <a:ext cx="3657599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DIAGNOSES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8156448" y="3927348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156448" y="3927348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211312" y="3973068"/>
            <a:ext cx="237744" cy="150876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211312" y="3968496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503920" y="3973068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diag_id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1018519" y="3982211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8156448" y="4169663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156448" y="4169663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211312" y="4215383"/>
            <a:ext cx="237744" cy="15087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211312" y="4210812"/>
            <a:ext cx="237744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503920" y="4215383"/>
            <a:ext cx="19875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1018519" y="4224527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156448" y="4411980"/>
            <a:ext cx="3822191" cy="2423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8156448" y="4411980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8266175" y="4457700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diagnosis_code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1018519" y="4466844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8156448" y="4654296"/>
            <a:ext cx="3822191" cy="242316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156448" y="4654296"/>
            <a:ext cx="3822191" cy="10972"/>
          </a:xfrm>
          <a:prstGeom prst="rect">
            <a:avLst/>
          </a:prstGeom>
          <a:solidFill>
            <a:srgbClr val="DD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266175" y="4700016"/>
            <a:ext cx="2216871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icd_version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1018519" y="4709159"/>
            <a:ext cx="896112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3986783" y="2105406"/>
            <a:ext cx="173736" cy="2743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986783" y="4633722"/>
            <a:ext cx="9144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3995928" y="2119122"/>
            <a:ext cx="27432" cy="25146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3995928" y="2119122"/>
            <a:ext cx="164591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982712" y="2105406"/>
            <a:ext cx="173735" cy="274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071616" y="3396996"/>
            <a:ext cx="27432" cy="2011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982712" y="2119122"/>
            <a:ext cx="36575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019288" y="2119122"/>
            <a:ext cx="27432" cy="215112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019288" y="4270248"/>
            <a:ext cx="13716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64592" y="5079492"/>
            <a:ext cx="3822191" cy="960120"/>
          </a:xfrm>
          <a:prstGeom prst="rect">
            <a:avLst/>
          </a:prstGeom>
          <a:solidFill>
            <a:srgbClr val="EE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64592" y="5079492"/>
            <a:ext cx="3822191" cy="2743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56032" y="5125212"/>
            <a:ext cx="3685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LEGEND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256032" y="5408676"/>
            <a:ext cx="201168" cy="150876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12064" y="5408676"/>
            <a:ext cx="3410711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PK  Primary Key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56032" y="5628132"/>
            <a:ext cx="201168" cy="15087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512064" y="5628132"/>
            <a:ext cx="3410711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FK  Foreign Key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256032" y="5847588"/>
            <a:ext cx="201168" cy="15087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12064" y="5847588"/>
            <a:ext cx="3410711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Line  Relationship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Star Schema  –  Data Warehouse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Dimensional model: fact tables (numbers) surrounded by dimension tables (descriptions)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" y="841248"/>
            <a:ext cx="3310128" cy="1431036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4592" y="804672"/>
            <a:ext cx="3310128" cy="1431036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04672"/>
            <a:ext cx="3310128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744" y="868680"/>
            <a:ext cx="475488" cy="19202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" y="864108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8549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dim_member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124712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592" y="1124712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152144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member_id  (PK) — masked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1339595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4592" y="1339595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1367028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gender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155448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" y="155448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158191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city,  state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" y="176936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" y="176936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9679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birth_year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" y="1984248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4592" y="1984248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011679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is_active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35324" y="841248"/>
            <a:ext cx="3310128" cy="1216152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98748" y="804672"/>
            <a:ext cx="3310128" cy="1216152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98748" y="804672"/>
            <a:ext cx="3310128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71900" y="868680"/>
            <a:ext cx="475488" cy="19202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1900" y="864108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2252" y="8549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dim_date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98748" y="1124712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98748" y="1124712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08476" y="1152144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date_key  (PK)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98748" y="1339595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8748" y="1339595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08476" y="1367028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year,  quarter,  month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98748" y="155448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98748" y="155448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08476" y="158191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month_name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98748" y="176936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98748" y="176936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08476" y="179679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day_name,  is_weekend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841248"/>
            <a:ext cx="3310128" cy="1431036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32904" y="804672"/>
            <a:ext cx="3310128" cy="1431036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2904" y="804672"/>
            <a:ext cx="3310128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06056" y="868680"/>
            <a:ext cx="475488" cy="19202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06056" y="864108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36408" y="85496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dim_provider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32904" y="1124712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32904" y="1124712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42631" y="1152144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provider_id  (PK) — masked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32904" y="1339595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232904" y="1339595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42631" y="1367028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specialty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32904" y="155448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32904" y="155448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42631" y="158191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city,  state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32904" y="176936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232904" y="176936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42631" y="179679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tax_id — masked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32904" y="1984248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232904" y="1984248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42631" y="2011679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license_no — masked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168" y="2962656"/>
            <a:ext cx="3310128" cy="1431036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64592" y="2926080"/>
            <a:ext cx="3310128" cy="1431036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4592" y="2926080"/>
            <a:ext cx="3310128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37744" y="2990088"/>
            <a:ext cx="475488" cy="19202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37744" y="298551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FACT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29763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fact_claim_line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4592" y="324612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64592" y="324612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4320" y="327355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line_id  (PK)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4592" y="346100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64592" y="346100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348843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  (FK)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3675888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592" y="3675888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4320" y="3703320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service_date_key  (FK)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4592" y="3890772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4592" y="3890772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4320" y="3918204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procedure_code  (FK)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64592" y="4105656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4592" y="4105656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74320" y="4133088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units,  rate,  line_amount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735324" y="2962656"/>
            <a:ext cx="3310128" cy="1860804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98748" y="2926080"/>
            <a:ext cx="3310128" cy="1860804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98748" y="2926080"/>
            <a:ext cx="3310128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771900" y="2990088"/>
            <a:ext cx="475488" cy="19202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71900" y="298551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FACT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02252" y="29763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fact_claim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98748" y="324612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698748" y="324612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808476" y="327355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  (PK)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98748" y="346100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698748" y="346100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808476" y="348843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member_id  (FK)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698748" y="3675888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98748" y="3675888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08476" y="3703320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provider_id  (FK)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98748" y="3890772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698748" y="3890772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808476" y="3918204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admit_date_key  (FK)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698748" y="4105656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98748" y="4105656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808476" y="4133088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length_of_stay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98748" y="4320540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698748" y="432054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808476" y="434797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allowed_amount,  paid_amount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98748" y="4535424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98748" y="453542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808476" y="456285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denial_code,  is_denied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269480" y="2962656"/>
            <a:ext cx="3310128" cy="1431036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32904" y="2926080"/>
            <a:ext cx="3310128" cy="1431036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2904" y="2926080"/>
            <a:ext cx="3310128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306056" y="2990088"/>
            <a:ext cx="475488" cy="19202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306056" y="298551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FACT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836408" y="29763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fact_payment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232904" y="324612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232904" y="324612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342631" y="327355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payment_id  (PK)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232904" y="346100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32904" y="346100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42631" y="348843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  (FK)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232904" y="3675888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232904" y="3675888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342631" y="3703320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payment_date_key  (FK)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232904" y="3890772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232904" y="3890772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42631" y="3918204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payment_method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232904" y="4105656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232904" y="4105656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342631" y="4133088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paid_amount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201168" y="5065776"/>
            <a:ext cx="3310128" cy="786384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64592" y="5029200"/>
            <a:ext cx="3310128" cy="786384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64592" y="5029200"/>
            <a:ext cx="3310128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37744" y="5093208"/>
            <a:ext cx="475488" cy="19202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37744" y="508863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68096" y="50794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dim_diagnosis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64592" y="534924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4592" y="534924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74320" y="537667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diagnosis_code  (PK)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64592" y="556412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" y="556412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74320" y="559155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icd_version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735324" y="5065776"/>
            <a:ext cx="3310128" cy="786384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698748" y="5029200"/>
            <a:ext cx="3310128" cy="786384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698748" y="5029200"/>
            <a:ext cx="3310128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771900" y="5093208"/>
            <a:ext cx="475488" cy="19202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771900" y="508863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302252" y="50794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dim_location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698748" y="534924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698748" y="534924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808476" y="537667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location_key  (PK)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698748" y="5564124"/>
            <a:ext cx="3310128" cy="214884"/>
          </a:xfrm>
          <a:prstGeom prst="rect">
            <a:avLst/>
          </a:prstGeom>
          <a:solidFill>
            <a:srgbClr val="F0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698748" y="5564124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808476" y="5591556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city,  state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269480" y="5065776"/>
            <a:ext cx="3310128" cy="571500"/>
          </a:xfrm>
          <a:prstGeom prst="rect">
            <a:avLst/>
          </a:prstGeom>
          <a:solidFill>
            <a:srgbClr val="C8D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232904" y="5029200"/>
            <a:ext cx="3310128" cy="5715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232904" y="5029200"/>
            <a:ext cx="3310128" cy="3200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306056" y="5093208"/>
            <a:ext cx="475488" cy="19202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306056" y="508863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836408" y="507949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dim_procedure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232904" y="5349240"/>
            <a:ext cx="3310128" cy="21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232904" y="5349240"/>
            <a:ext cx="3310128" cy="9144"/>
          </a:xfrm>
          <a:prstGeom prst="rect">
            <a:avLst/>
          </a:prstGeom>
          <a:solidFill>
            <a:srgbClr val="E0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342631" y="5376672"/>
            <a:ext cx="3145536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procedure_code  (PK)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819656" y="2235708"/>
            <a:ext cx="25603" cy="52578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819656" y="2761488"/>
            <a:ext cx="3534156" cy="25603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353812" y="2761488"/>
            <a:ext cx="25603" cy="1645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353812" y="2020824"/>
            <a:ext cx="25603" cy="90525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887968" y="2235708"/>
            <a:ext cx="25603" cy="52578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5353812" y="2761488"/>
            <a:ext cx="3534156" cy="25603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887968" y="2761488"/>
            <a:ext cx="25603" cy="1645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474720" y="3641598"/>
            <a:ext cx="224027" cy="25603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008876" y="3856482"/>
            <a:ext cx="224028" cy="25603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19656" y="4357116"/>
            <a:ext cx="25603" cy="672083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5353812" y="4786884"/>
            <a:ext cx="25603" cy="242315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819656" y="4892040"/>
            <a:ext cx="7068312" cy="25603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887968" y="4892040"/>
            <a:ext cx="25603" cy="13716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887968" y="4357116"/>
            <a:ext cx="25603" cy="672083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64592" y="6473952"/>
            <a:ext cx="11859768" cy="201168"/>
          </a:xfrm>
          <a:prstGeom prst="rect">
            <a:avLst/>
          </a:prstGeom>
          <a:solidFill>
            <a:srgbClr val="E8E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56032" y="6492240"/>
            <a:ext cx="201168" cy="150876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12064" y="6492240"/>
            <a:ext cx="365760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 = Fact Table (stores measurable data)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4233672" y="6492240"/>
            <a:ext cx="201168" cy="15087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489704" y="6492240"/>
            <a:ext cx="365760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DIM = Dimension Table (stores descriptive data)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211311" y="6492240"/>
            <a:ext cx="201168" cy="15087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467343" y="6492240"/>
            <a:ext cx="365760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Lines = Relationships between tables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ETL Pipeline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Extract  -&gt;  Profile  -&gt;  Clean  -&gt;  Mask  -&gt;  Load  -&gt;  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960120"/>
            <a:ext cx="1847088" cy="228600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Source
CSVs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7 files
1.4M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9112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960120"/>
            <a:ext cx="1847088" cy="2286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Detect all
quality 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step1_profile.py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24528" y="960120"/>
            <a:ext cx="1847088" cy="2286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Clean &amp;
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Remove bad rows
Save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step2_clean.py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8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8776" y="960120"/>
            <a:ext cx="1847088" cy="2286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Mask
PII / PHI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Hash sensitive
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6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step3_mask.py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93023" y="960120"/>
            <a:ext cx="1847088" cy="2286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3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3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ETL
Load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3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Build schema
Load all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3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step4_load_full.py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76103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77272" y="960120"/>
            <a:ext cx="1847088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8711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1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Incremental
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1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New rows only
watermark-based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72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step5_incremental.py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3703320"/>
            <a:ext cx="5623560" cy="26060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600" y="3703320"/>
            <a:ext cx="91440" cy="26060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37673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3935"/>
                </a:solidFill>
              </a:rPr>
              <a:t>FULL LOAD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16052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-&gt; Drop all existing warehouse data
-&gt; Run DDL to recreate all tables
-&gt; Clean + mask + load all 1.4M rows
-&gt; Use when: first run or full refresh needed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3703320"/>
            <a:ext cx="5879592" cy="2606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80760" y="3703320"/>
            <a:ext cx="91440" cy="2606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37673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</a:rPr>
              <a:t>INCREMENTAL LOAD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160520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-&gt; Read last_load_dt from etl_watermark table
-&gt; Filter CSV: rows where date &gt; last_load_dt
-&gt; Process and load ONLY those new rows
-&gt; Use when: daily/regular refresh needed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F77"/>
                </a:solidFill>
              </a:rPr>
              <a:t>Outputs: warehouse.db  |  rejected_rows/*.csv  |  logs/profiling_summary.json  |  logs/masking_audit.json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Quality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Issues identified during profiling 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960120"/>
            <a:ext cx="3840480" cy="23317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60120"/>
            <a:ext cx="3840480" cy="457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01498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Missing 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08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Blank or NULL fields in required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94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EEFF"/>
                </a:solidFill>
              </a:rPr>
              <a:t>Columns: first_name, email, city, diagnosis_code, specialty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960120"/>
            <a:ext cx="3840480" cy="23317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960120"/>
            <a:ext cx="3840480" cy="457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01498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Orphan Foreign Keys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508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__ORPHAN__ marker where a valid parent ID is expected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194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EEFF"/>
                </a:solidFill>
              </a:rPr>
              <a:t>Columns: member_id in claims, claim_number in payments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960120"/>
            <a:ext cx="3840480" cy="23317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960120"/>
            <a:ext cx="3840480" cy="457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01498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Negative Amounts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508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Invalid negative values in financial columns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194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EEFF"/>
                </a:solidFill>
              </a:rPr>
              <a:t>Columns: allowed_amount, paid_amount, units, line_amount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3520439"/>
            <a:ext cx="3840480" cy="23317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" y="3520439"/>
            <a:ext cx="3840480" cy="457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575303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Future 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069079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Dates that should not exist (past events in the future)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754879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EEFF"/>
                </a:solidFill>
              </a:rPr>
              <a:t>Columns: admit_date, service_date, DOB, payment_date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520439"/>
            <a:ext cx="3840480" cy="23317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3520439"/>
            <a:ext cx="3840480" cy="457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3575303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Duplicate Primary Keys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069079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Same ID appearing more than once in the same 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754879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EEFF"/>
                </a:solidFill>
              </a:rPr>
              <a:t>Columns: claim_number, member_id, provider_id, line_id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3520439"/>
            <a:ext cx="3840480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83879" y="3520439"/>
            <a:ext cx="3840480" cy="457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3575303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Type Mismatches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069079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Text values found in columns that must be numeric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754879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DEEFF"/>
                </a:solidFill>
              </a:rPr>
              <a:t>Columns: paid_amount = 'ERR', rate = 'MISSING', LOS = 'TEXT'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Cleaning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Validation applied entity-by-entity in dependency 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18013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877824"/>
            <a:ext cx="1682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841248"/>
            <a:ext cx="1161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2" y="877824"/>
            <a:ext cx="1042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841248"/>
            <a:ext cx="13441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877824"/>
            <a:ext cx="1225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Valid (Kept)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841248"/>
            <a:ext cx="1161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877824"/>
            <a:ext cx="1042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Rejected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841248"/>
            <a:ext cx="79552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3872" y="877824"/>
            <a:ext cx="6766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841248"/>
            <a:ext cx="5733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877824"/>
            <a:ext cx="5614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Rejection Reasons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12344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12710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12344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4832" y="1271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2,60,000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12344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3552" y="12710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2,32,207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12344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1271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27,793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12344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33872" y="12710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10.7%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12344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12710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Missing name, future DOB, duplicate 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16916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17282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0" y="16916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84832" y="17282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16916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3552" y="17282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38,424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16916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45152" y="17282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1,576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16916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33872" y="17282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3.9%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16916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6832" y="17282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Missing specialty, duplicate ID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21488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21854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0" y="21488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84832" y="21854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2,40,000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21488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73552" y="21854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2,08,640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21488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45152" y="21854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31,360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21488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33872" y="21854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13.1%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0" y="21488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56832" y="21854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member_id, negative amount, future date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" y="26060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26426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claim_lines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1680" y="26060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2" y="26426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7,60,000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26060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73552" y="26426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6,45,733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26060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5152" y="26426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1,14,267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26060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33872" y="26426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15.0%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0" y="26060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26426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negative units, bad rate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" y="30632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6032" y="30998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11680" y="30632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84832" y="30998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1,00,000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0" y="30632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73552" y="30998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59,615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0" y="30632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45152" y="30998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40,385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760720" y="30632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33872" y="30998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40.4%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83680" y="30632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56832" y="30998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non-numeric amount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2880" y="35204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6032" y="35570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diagnoses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11680" y="35204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84832" y="3557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0400" y="35204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73552" y="35570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39,741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0" y="35204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45152" y="3557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20,259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760720" y="35204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33872" y="35570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83680" y="35204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56832" y="35570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invalid ICD version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2880" y="3977639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56032" y="4014215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procedures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11680" y="3977639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84832" y="4014215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0" y="3977639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273552" y="4014215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24,844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72000" y="3977639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645152" y="4014215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15,156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760720" y="3977639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833872" y="4014215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37.9%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83680" y="3977639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656832" y="4014215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line_id, missing procedure code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82880" y="4462272"/>
            <a:ext cx="180136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6032" y="4498848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011680" y="4462272"/>
            <a:ext cx="1161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084832" y="4498848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14,00,000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00400" y="4462272"/>
            <a:ext cx="134416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73552" y="4498848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12,49,204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0" y="4462272"/>
            <a:ext cx="1161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645152" y="4498848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2,50,796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760720" y="4462272"/>
            <a:ext cx="79552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833872" y="4498848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17.9%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583680" y="4462272"/>
            <a:ext cx="5733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56832" y="4498848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All quality issues combined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82880" y="5029200"/>
            <a:ext cx="2834640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20040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12,49,204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Valid Rows Loaded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172968" y="5029200"/>
            <a:ext cx="2834640" cy="1508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310128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2,50,796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64408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Rows Rejected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63056" y="5029200"/>
            <a:ext cx="2834640" cy="150876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300216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17.9%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54496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Overall Reject Rate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53144" y="5029200"/>
            <a:ext cx="2834640" cy="150876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290304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7 files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244584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Audit CSVs Saved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Masking  –  PII / PHI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Deterministic HMAC-SHA256 tokenisation applied before warehouse loading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841248"/>
            <a:ext cx="5577840" cy="12344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841248"/>
            <a:ext cx="73152" cy="12344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91440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Why Masking?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1280160"/>
            <a:ext cx="5349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1A2E"/>
                </a:solidFill>
              </a:rPr>
              <a:t>Analysts querying the warehouse must never see real patient names, emails, phone numbers or exact dates of birth. Masking protects privacy while keeping all analytical relationships intact.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841248"/>
            <a:ext cx="5943600" cy="12344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841248"/>
            <a:ext cx="73152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914400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How It Works  —  HMAC-SHA256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280160"/>
            <a:ext cx="5715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1A2E"/>
                </a:solidFill>
              </a:rPr>
              <a:t>DETERMINISTIC: same input always produces the same token (JOINs work)
IRREVERSIBLE: cannot be decoded back to the original value
SALT: a secret key makes tokens unique to this project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240280"/>
            <a:ext cx="18013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" y="2276856"/>
            <a:ext cx="1682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Field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152704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76856"/>
            <a:ext cx="1408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2240280"/>
            <a:ext cx="198424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2276856"/>
            <a:ext cx="18653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240280"/>
            <a:ext cx="29900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0992" y="2276856"/>
            <a:ext cx="2871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Before (Raw)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2240280"/>
            <a:ext cx="280720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68512" y="2276856"/>
            <a:ext cx="2688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After (Masked)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633472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2670048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633472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4832" y="267004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66160" y="2633472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9312" y="267004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2633472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50992" y="2670048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M0000001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2633472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68512" y="2670048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MBR3F9A2C1D4E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3035808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" y="3072384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first_name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80" y="3035808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84832" y="3072384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66160" y="3035808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39312" y="3072384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3035808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0992" y="3072384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Alice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95360" y="3035808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68512" y="3072384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FN8B2C3D4E5F6A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438144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032" y="3474720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email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1680" y="3438144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84832" y="3474720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66160" y="3438144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39312" y="3474720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3438144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50992" y="3474720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alice@gmail.com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95360" y="3438144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68512" y="3474720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EMAIF29A3B1C2D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" y="3840480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3877056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phone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1680" y="3840480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2" y="3877056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66160" y="3840480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39312" y="3877056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77840" y="3840480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50992" y="3877056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9876543210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95360" y="3840480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68512" y="3877056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PH8A2B3C4D5E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242816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6032" y="4279392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dob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1680" y="4242816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84832" y="4279392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66160" y="4242816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39312" y="4279392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Year only (generalise)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0" y="4242816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50992" y="4279392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1985-03-10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95360" y="4242816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68512" y="4279392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1985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82880" y="4645152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6032" y="4681728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tax_id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1680" y="4645152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84832" y="468172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566160" y="4645152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39312" y="468172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577840" y="4645152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50992" y="4681728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908430420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95360" y="4645152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68512" y="4681728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TAX2B3C4D5E6F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5047488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6032" y="5084064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1680" y="5047488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84832" y="5084064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566160" y="5047488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39312" y="5084064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577840" y="5047488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650992" y="5084064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CL00155929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95360" y="5047488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668512" y="5084064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CLM4E5F6A7B8C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2880" y="5449824"/>
            <a:ext cx="180136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56032" y="5486400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city / state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1680" y="5449824"/>
            <a:ext cx="152704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84832" y="5486400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566160" y="5449824"/>
            <a:ext cx="198424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39312" y="5486400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Kept as-is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577840" y="5449824"/>
            <a:ext cx="299008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50992" y="5486400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Mumbai, Maharashtra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595360" y="5449824"/>
            <a:ext cx="280720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668512" y="5486400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Mumbai, Maharashtra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2880" y="608076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Fields kept clear: city, state, gender, specialty, procedure_code, diagnosis_code, amounts, payment_method, dates (non-DOB)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Analytical SQL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10 business questions answered from the warehouse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1440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914400"/>
            <a:ext cx="594360" cy="9601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9784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Total Claims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3533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COUNT, SUM, AVG on fact_claim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91440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914400"/>
            <a:ext cx="594360" cy="9601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2008" y="9784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Monthly Paid Trend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13533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fact_claim + dim_date, GROUP BY year/month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1168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2011680"/>
            <a:ext cx="59436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0756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Top 10 Procedures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45059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procedure_code ORDER BY COUNT(*)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01168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2011680"/>
            <a:ext cx="594360" cy="9601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20756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Provider Scorecard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245059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dim_provider, AVG paid, denial_rate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310896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" y="3108960"/>
            <a:ext cx="594360" cy="9601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1729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Denial Rate Breakdown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547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CASE WHEN denial_code, GROUP BY denial_reason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310896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3108960"/>
            <a:ext cx="594360" cy="9601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31729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Length of Stay Dist.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8" y="3547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length_of_stay, AVG paid_amount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" y="420624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2880" y="4206240"/>
            <a:ext cx="59436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4297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42702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Member Utilisation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6451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dim_member, SUM paid, ORDER BY spend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420624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4206240"/>
            <a:ext cx="594360" cy="9601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5352" y="4297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22008" y="42702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Geographic Analysis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8" y="46451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dim_member on city/state, SUM by state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0352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2880" y="5303520"/>
            <a:ext cx="594360" cy="9601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032" y="53949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688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Payment Method Split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" y="5742431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payment_method, SUM paid_amount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530352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72200" y="5303520"/>
            <a:ext cx="594360" cy="9601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45352" y="53949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22008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Diagnosis Cost Analysis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22008" y="5742431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Link diagnoses to claims, cost by ICD code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" y="644652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All queries run against the live SQLite warehouse via Python / Jupyter Notebook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Business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Live results from the warehouse after full ETL 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14400"/>
            <a:ext cx="2834640" cy="1920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2,08,640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91440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Allowed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2696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20.9B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billed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914400"/>
            <a:ext cx="2834640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63056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Paid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15.68B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paid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53144" y="914400"/>
            <a:ext cx="2834640" cy="19202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53144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4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Avg per Claim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75,156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average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0400"/>
            <a:ext cx="2834640" cy="19202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Denial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49.92%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claims denied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2968" y="3200400"/>
            <a:ext cx="2834640" cy="192024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72968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Top 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82696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Punjab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0128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highest spend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63056" y="3200400"/>
            <a:ext cx="2834640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63056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Top Procedure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CPT35289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417 uses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53144" y="320040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53144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90304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Payment Methods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2872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 types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4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equal split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" y="5897880"/>
            <a:ext cx="1179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Source: warehouse.db  |  208,640 valid claims  |  ~12.5 million total rows across all tables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Analytics Visualizations  –  Part 1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Monthly trend  |  Top procedures  |  Denial rate  |  Length of stay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Monthly Paid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Consistent ~Rs 540M/month</a:t>
            </a:r>
          </a:p>
        </p:txBody>
      </p:sp>
      <p:pic>
        <p:nvPicPr>
          <p:cNvPr id="12" name="Picture 11" descr="01_monthly_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08176"/>
            <a:ext cx="5687568" cy="20299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90488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Top 10 Procedures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CPT35289 highest at 417 uses</a:t>
            </a:r>
          </a:p>
        </p:txBody>
      </p:sp>
      <p:pic>
        <p:nvPicPr>
          <p:cNvPr id="17" name="Picture 16" descr="02_top_proced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08176"/>
            <a:ext cx="5687568" cy="202996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82880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Denial Rate by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49.9% denied — D001/D002/D003</a:t>
            </a:r>
          </a:p>
        </p:txBody>
      </p:sp>
      <p:pic>
        <p:nvPicPr>
          <p:cNvPr id="22" name="Picture 21" descr="04_denial_r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4315968"/>
            <a:ext cx="5687568" cy="202996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90488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Length of Stay (0-30 days)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Flat distribution across LOS</a:t>
            </a:r>
          </a:p>
        </p:txBody>
      </p:sp>
      <p:pic>
        <p:nvPicPr>
          <p:cNvPr id="27" name="Picture 26" descr="05_los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315968"/>
            <a:ext cx="5687568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Analytics Visualizations  –  Part 2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Provider performance  |  Geographic  |  Member utilisation  |  Payment 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Some providers &gt;60% denial rate</a:t>
            </a:r>
          </a:p>
        </p:txBody>
      </p:sp>
      <p:pic>
        <p:nvPicPr>
          <p:cNvPr id="12" name="Picture 11" descr="03_provider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08176"/>
            <a:ext cx="5687568" cy="20299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90488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Paid by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Punjab &amp; Odisha lead</a:t>
            </a:r>
          </a:p>
        </p:txBody>
      </p:sp>
      <p:pic>
        <p:nvPicPr>
          <p:cNvPr id="17" name="Picture 16" descr="07_geograph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08176"/>
            <a:ext cx="5687568" cy="202996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82880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Member Utilisation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High-spend members by gender</a:t>
            </a:r>
          </a:p>
        </p:txBody>
      </p:sp>
      <p:pic>
        <p:nvPicPr>
          <p:cNvPr id="22" name="Picture 21" descr="06_member_utilis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4315968"/>
            <a:ext cx="5687568" cy="202996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90488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Payment Methods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NEFT/UPI/RTGS/Cheque equal split</a:t>
            </a:r>
          </a:p>
        </p:txBody>
      </p:sp>
      <p:pic>
        <p:nvPicPr>
          <p:cNvPr id="27" name="Picture 26" descr="08_payment_metho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315968"/>
            <a:ext cx="5687568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Database indexes + vectorised Pandas + masking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623560" cy="31546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91440" cy="315468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8961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Database Indexes  (in DDL)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189280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31673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1280160"/>
            <a:ext cx="180136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9152" y="1316736"/>
            <a:ext cx="16824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280160"/>
            <a:ext cx="138988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952" y="1316736"/>
            <a:ext cx="127101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Column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59105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62763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idx_fc_member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159105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59152" y="162763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159105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87952" y="162763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1865376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190195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idx_fc_provider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1865376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9152" y="190195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865376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87952" y="190195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13969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217627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idx_fc_admit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213969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59152" y="217627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213969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87952" y="217627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admit_date_key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414015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2450591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idx_fc_denied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2414015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59152" y="2450591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2414015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87952" y="2450591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is_denied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268833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272491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idx_fcl_claim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268833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59152" y="272491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fact_claim_line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0" y="268833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87952" y="272491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2962656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299923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idx_fp_claim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2962656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59152" y="299923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fact_payment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962656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87952" y="299923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323697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8912" y="327355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idx_dp_specialty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0" y="323697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59152" y="327355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dim_provider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0" y="323697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87952" y="327355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specialty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89320" y="841248"/>
            <a:ext cx="5989320" cy="31546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989320" y="841248"/>
            <a:ext cx="91440" cy="3154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17920" y="8961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Vectorised Pandas Operations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1298448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2" y="132588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pd.to_numeric(col, errors='coerce')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99632" y="1517904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Converts entire column at once — no row loops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26480" y="1773936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99632" y="180136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pd.to_datetime(col, errors='coerce')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9632" y="199339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Parses all dates in single operation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26480" y="2249424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99632" y="227685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df[boolean_mask]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9632" y="246888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Filters millions of rows instantly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26480" y="2724912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2752344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Series.map(dictionary)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99632" y="294436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Remaps FK columns — 100x faster than apply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3200400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99632" y="32278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pd.concat + drop_duplicates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9632" y="341985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Deduplication across full entity datasets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4160520"/>
            <a:ext cx="11795760" cy="14173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4160520"/>
            <a:ext cx="91440" cy="14173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42245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7C00"/>
                </a:solidFill>
              </a:rPr>
              <a:t>Masking Impact on Analytics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177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Deterministic masking means member_id 'M0000001' ALWAYS becomes 'MBR3F9A2C1D4E'  -&gt;  JOINs between fact_claim, dim_member and dim_provider work correctly.
City/state kept clear  -&gt;  geographic analysis fully functional.   DOB -&gt; birth_year  -&gt;  age band analysis still possible.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" y="5742432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Full ETL run: ~3-5 min on laptop  |  Incremental: seconds  |  Warehouse: 9 tables, ~12.5M rows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Project Deliverables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6F5"/>
                </a:solidFill>
              </a:rPr>
              <a:t>All required outputs per the capstone document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6868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6868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978407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978407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8961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Star Schema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1064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01_star_schema_ddl.sql — 9 tables with FK indexes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86868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868680"/>
            <a:ext cx="73152" cy="43891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978407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978407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8961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ER Diagram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11064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Entity relationships across all 7 source tables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137160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2880" y="137160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14813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4813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13990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Analytical SQL Queries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6093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02_analytical_queries.sql — 10 business queries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37160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1371600"/>
            <a:ext cx="73152" cy="4389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14813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14813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13990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Data Profiling 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16093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logs/profiling_summary.json — quality findings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1874519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1874519"/>
            <a:ext cx="73152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198424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19842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1901951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ETL Full Load Script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211226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step4_load_full.py — drops + reloads everything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1874519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1874519"/>
            <a:ext cx="73152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198424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8504" y="19842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1901951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ETL Incremental Load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1112" y="211226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step5_load_incremental.py — watermark-based new rows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237744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2880" y="2377440"/>
            <a:ext cx="73152" cy="43891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248716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4871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240487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Data Masking 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26151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step3_mask.py — HMAC-SHA256 deterministic hashing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237744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2377440"/>
            <a:ext cx="73152" cy="43891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9360" y="248716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24871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11112" y="240487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Masking Audit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26151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logs/masking_audit.json — fields masked + 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" y="288036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82880" y="2880360"/>
            <a:ext cx="73152" cy="43891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299008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299008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" y="290779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Error / Rejection Logs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" y="311810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output/rejected_rows/*.csv — 7 audit files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288036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72200" y="2880360"/>
            <a:ext cx="73152" cy="4389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9360" y="299008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99008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290779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Python Analytics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1112" y="311810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analytics.py — 9 queries + CSV results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" y="338328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82880" y="3383280"/>
            <a:ext cx="73152" cy="4389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349300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349300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" y="34107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8 Matplotlib Charts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" y="3621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output/charts/*.png — all visualisations saved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72200" y="338328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72200" y="3383280"/>
            <a:ext cx="73152" cy="43891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09360" y="349300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49300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11112" y="34107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Jupyter Notebook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1112" y="3621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analytics_notebook.ipynb — interactive analysis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2880" y="388620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880" y="3886200"/>
            <a:ext cx="73152" cy="4389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20040" y="39959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9184" y="39959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1792" y="39136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Optimisation Summary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" y="41239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Indexes + vectorised Pandas + masking impact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72200" y="388620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72200" y="388620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309360" y="39959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18504" y="39959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11112" y="39136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GitHub Repository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11112" y="41239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https://github.com/mhgowda/healthcare-insurance-dw-capstone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880" y="644652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6FC4"/>
                </a:solidFill>
              </a:rPr>
              <a:t>GitHub: https://github.com/mhgowda/healthcare-insurance-dw-capstone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0"/>
            <a:ext cx="2130552" cy="685800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FA5"/>
                </a:solidFill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840480"/>
            <a:ext cx="8229600" cy="5486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F77"/>
                </a:solidFill>
              </a:rPr>
              <a:t>GitHub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https://github.com/mhgowda/healthcare-insurance-dw-capstone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1.4M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Source Rows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DW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17.9%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Rejected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49.9%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Denial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77"/>
                </a:solidFill>
              </a:rPr>
              <a:t>Midterm Capstone  |  Group 5  |  Batch 2024-25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