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0"/>
            <a:ext cx="2130552" cy="6858000"/>
          </a:xfrm>
          <a:prstGeom prst="rect">
            <a:avLst/>
          </a:prstGeom>
          <a:solidFill>
            <a:srgbClr val="1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FA5"/>
                </a:solidFill>
              </a:rPr>
              <a:t>MIDTERM CAPSTONE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Healthcare Insurance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0" i="0">
                <a:solidFill>
                  <a:srgbClr val="BBD6F5"/>
                </a:solidFill>
              </a:rPr>
              <a:t>Claims Data Warehouse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82112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BBD6F5"/>
                </a:solidFill>
              </a:rPr>
              <a:t>&amp; Analytics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60520"/>
            <a:ext cx="6858000" cy="5029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F77"/>
                </a:solidFill>
              </a:rPr>
              <a:t>SQL  |  Python  |  ETL Pipeline  |  Star Schema  |  Data Masking  |  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Group 5  |  Batch 2024-25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49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F77"/>
                </a:solidFill>
              </a:rPr>
              <a:t>Midterm Capstone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11887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B300"/>
                </a:solidFill>
              </a:rPr>
              <a:t>1.4M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828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6F5"/>
                </a:solidFill>
              </a:rPr>
              <a:t>Source Rows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24160" y="2194560"/>
            <a:ext cx="1371600" cy="274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0" y="25603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B300"/>
                </a:solidFill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6F5"/>
                </a:solidFill>
              </a:rPr>
              <a:t>DW Tables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24160" y="3566160"/>
            <a:ext cx="1371600" cy="274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0" y="3931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B300"/>
                </a:solidFill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BD6F5"/>
                </a:solidFill>
              </a:rPr>
              <a:t>Charts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24160" y="4937760"/>
            <a:ext cx="1371600" cy="2743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End-to-end healthcare insurance claims data warehouse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868680"/>
            <a:ext cx="11640312" cy="1417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868680"/>
            <a:ext cx="91440" cy="141732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144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FC4"/>
                </a:solidFill>
              </a:rPr>
              <a:t>Business 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A2E"/>
                </a:solidFill>
              </a:rPr>
              <a:t>A national health insurer needs a centralized Data Warehouse to analyze claims costs, utilisation, provider performance and fraud indicators — while fully protecting patient privacy (PII/PHI). Source data arrives as 7 CSV files with ~1.4 million rows containing intentional quality issues including missing values, orphan foreign keys, and type mismatches.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68880"/>
            <a:ext cx="2834640" cy="192024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468880"/>
            <a:ext cx="283464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4963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4963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Star Schema
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1089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6FF"/>
                </a:solidFill>
              </a:rPr>
              <a:t>Model a DW with
dims + facts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468880"/>
            <a:ext cx="2834640" cy="19202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46120" y="2468880"/>
            <a:ext cx="283464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24963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59" y="24963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ETL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5848" y="31089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6FF"/>
                </a:solidFill>
              </a:rPr>
              <a:t>Full + Incremental
load with audit logs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468880"/>
            <a:ext cx="2834640" cy="1920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468880"/>
            <a:ext cx="283464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4963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59" y="24963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Masking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7648" y="31089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6FF"/>
                </a:solidFill>
              </a:rPr>
              <a:t>Protect PII/PHI
preserve join keys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89720" y="2468880"/>
            <a:ext cx="2834640" cy="19202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89720" y="2468880"/>
            <a:ext cx="2834640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99448" y="249631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496312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Analytics
&amp; Charts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9448" y="31089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EF6FF"/>
                </a:solidFill>
              </a:rPr>
              <a:t>SQL + Python +
8 Matplotlib charts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617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Technologies: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010912"/>
            <a:ext cx="224028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5074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Python 3.10+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33472" y="5010912"/>
            <a:ext cx="2240280" cy="50292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5074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Pandas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92624" y="5010912"/>
            <a:ext cx="2240280" cy="5029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02352" y="5074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SQLite / SQL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51776" y="5010912"/>
            <a:ext cx="2240280" cy="5029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61504" y="5074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Matplotlib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10928" y="5010912"/>
            <a:ext cx="2240280" cy="5029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20656" y="5074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Jupyter Notebook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566928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F77"/>
                </a:solidFill>
              </a:rPr>
              <a:t>Dataset: 7 CSV files  |  ~1.4 Million rows  |  1.2M clean + 0.2M intentionally imperfect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Source Data  –  7 CSV 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OLTP-style extracts from the insurance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822960"/>
            <a:ext cx="262432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859536"/>
            <a:ext cx="250545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CSV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822960"/>
            <a:ext cx="289864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7792" y="859536"/>
            <a:ext cx="277977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822960"/>
            <a:ext cx="97840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859536"/>
            <a:ext cx="85953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822960"/>
            <a:ext cx="161848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859536"/>
            <a:ext cx="149961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Primary Key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822960"/>
            <a:ext cx="317296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859536"/>
            <a:ext cx="3054096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Columns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1234440"/>
            <a:ext cx="2624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1271016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members_merged.csv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1234440"/>
            <a:ext cx="289864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7792" y="1271016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Patient/member master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1234440"/>
            <a:ext cx="9784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3872" y="1271016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2,60,000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234440"/>
            <a:ext cx="161848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1271016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member_id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1234440"/>
            <a:ext cx="31729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85632" y="1271016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name, DOB, email, phone, city, state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728216"/>
            <a:ext cx="262432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" y="1764792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providers_merged.csv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1728216"/>
            <a:ext cx="289864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07792" y="1764792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Doctors and hospitals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1728216"/>
            <a:ext cx="97840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3872" y="1764792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40,000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1728216"/>
            <a:ext cx="161848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9712" y="1764792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provider_id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1728216"/>
            <a:ext cx="317296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85632" y="1764792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specialty, city, state, tax_id, license_no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2221992"/>
            <a:ext cx="2624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6032" y="2258568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claims_merged.csv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34640" y="2221992"/>
            <a:ext cx="289864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07792" y="2258568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Insurance claim headers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2221992"/>
            <a:ext cx="9784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33872" y="2258568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2,40,000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2221992"/>
            <a:ext cx="161848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9712" y="2258568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2221992"/>
            <a:ext cx="31729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85632" y="2258568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member_id, provider_id, admit_date, paid_amount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2715768"/>
            <a:ext cx="262432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6032" y="2752344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claim_lines_merged.csv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834640" y="2715768"/>
            <a:ext cx="289864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07792" y="2752344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Services inside each claim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715768"/>
            <a:ext cx="97840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33872" y="2752344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7,60,000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2715768"/>
            <a:ext cx="161848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39712" y="2752344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line_id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2715768"/>
            <a:ext cx="317296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85632" y="2752344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claim_number, procedure_code, units, rate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2880" y="3209544"/>
            <a:ext cx="2624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6032" y="3246120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payments_merged.csv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34640" y="3209544"/>
            <a:ext cx="289864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07792" y="3246120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Payments on claims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60720" y="3209544"/>
            <a:ext cx="9784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33872" y="3246120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1,00,000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766560" y="3209544"/>
            <a:ext cx="161848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839712" y="3246120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payment_id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412480" y="3209544"/>
            <a:ext cx="31729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85632" y="3246120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claim_number, payment_date, paid_amount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703320"/>
            <a:ext cx="262432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6032" y="3739896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diagnoses_merged.csv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834640" y="3703320"/>
            <a:ext cx="289864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07792" y="3739896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ICD diagnosis codes per claim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60720" y="3703320"/>
            <a:ext cx="97840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33872" y="3739896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60,000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3703320"/>
            <a:ext cx="161848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39712" y="3739896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diag_id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12480" y="3703320"/>
            <a:ext cx="3172968" cy="45720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85632" y="3739896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claim_number, diagnosis_code, icd_version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2880" y="4197096"/>
            <a:ext cx="262432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6032" y="4233672"/>
            <a:ext cx="2505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procedures_merged.csv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34640" y="4197096"/>
            <a:ext cx="289864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07792" y="4233672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CPT codes per claim line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60720" y="4197096"/>
            <a:ext cx="9784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33872" y="4233672"/>
            <a:ext cx="859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40,000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766560" y="4197096"/>
            <a:ext cx="161848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39712" y="4233672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proc_id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412480" y="4197096"/>
            <a:ext cx="317296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85632" y="4233672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line_id, procedure_code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2880" y="4709160"/>
            <a:ext cx="2624328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56032" y="4745736"/>
            <a:ext cx="25054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834640" y="4709160"/>
            <a:ext cx="2898648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07792" y="4745736"/>
            <a:ext cx="27797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7 source entities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60720" y="4709160"/>
            <a:ext cx="978408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833872" y="4745736"/>
            <a:ext cx="85953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~14,00,000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766560" y="4709160"/>
            <a:ext cx="1618488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39712" y="4745736"/>
            <a:ext cx="14996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412480" y="4709160"/>
            <a:ext cx="3172968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85632" y="4745736"/>
            <a:ext cx="305409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1.2M clean + 0.2M imperfect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5321808"/>
            <a:ext cx="3840480" cy="47548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92608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Missing Values: blank/NULL fields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160520" y="5321808"/>
            <a:ext cx="3840480" cy="47548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270248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Orphan FKs: __ORPHAN__ marker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138159" y="5321808"/>
            <a:ext cx="3840480" cy="47548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247887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Negative Amounts: invalid numbers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5870448"/>
            <a:ext cx="3840480" cy="47548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92608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Future Dates: impossible timestamps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160520" y="5870448"/>
            <a:ext cx="3840480" cy="4754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270248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Duplicate Keys: repeated IDs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138159" y="5870448"/>
            <a:ext cx="3840480" cy="47548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247887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Type Mismatches: text in numbers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Entity Relationship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Source system table structures and foreign key relationships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79" y="868680"/>
            <a:ext cx="3822191" cy="1645920"/>
          </a:xfrm>
          <a:prstGeom prst="rect">
            <a:avLst/>
          </a:prstGeom>
          <a:solidFill>
            <a:srgbClr val="C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" y="850392"/>
            <a:ext cx="3822191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" y="850392"/>
            <a:ext cx="3822191" cy="27432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900684"/>
            <a:ext cx="368503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124712"/>
            <a:ext cx="3822191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" y="1124712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0311" y="1161288"/>
            <a:ext cx="201168" cy="1234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1" y="1158544"/>
            <a:ext cx="201168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" y="1161288"/>
            <a:ext cx="320039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21A2E"/>
                </a:solidFill>
              </a:rPr>
              <a:t>member_id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6975" y="1165860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1316736"/>
            <a:ext cx="3822191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64592" y="1316736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" y="1353312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first_name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36975" y="135788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1508760"/>
            <a:ext cx="3822191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4592" y="1508760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" y="1545336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36975" y="1549907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1700784"/>
            <a:ext cx="3822191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4592" y="1700784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1737360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phone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36975" y="1741931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1892807"/>
            <a:ext cx="3822191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4592" y="1892807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1929384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dob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6975" y="1933955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4592" y="2084832"/>
            <a:ext cx="3822191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4592" y="2084832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2121408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city / state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36975" y="2125980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4592" y="2276856"/>
            <a:ext cx="3822191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64592" y="2276856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2313432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is_active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36975" y="231800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BOOLEAN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78807" y="868680"/>
            <a:ext cx="3822191" cy="1837943"/>
          </a:xfrm>
          <a:prstGeom prst="rect">
            <a:avLst/>
          </a:prstGeom>
          <a:solidFill>
            <a:srgbClr val="C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60520" y="850392"/>
            <a:ext cx="3822191" cy="183794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60520" y="850392"/>
            <a:ext cx="3822191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51959" y="900684"/>
            <a:ext cx="368503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CLAIMS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20" y="1124712"/>
            <a:ext cx="3822191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160520" y="1124712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06240" y="1161288"/>
            <a:ext cx="201168" cy="1234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6240" y="1158544"/>
            <a:ext cx="201168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43983" y="1161288"/>
            <a:ext cx="320039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32904" y="1165860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0520" y="1316736"/>
            <a:ext cx="3822191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60520" y="1316736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0" y="1353312"/>
            <a:ext cx="201168" cy="12344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06240" y="1350568"/>
            <a:ext cx="201168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43983" y="1353312"/>
            <a:ext cx="320039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member_id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32904" y="135788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60520" y="1508760"/>
            <a:ext cx="3822191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60520" y="1508760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06240" y="1545336"/>
            <a:ext cx="201168" cy="12344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06240" y="1542592"/>
            <a:ext cx="201168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443983" y="1545336"/>
            <a:ext cx="320039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provider_id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32904" y="1549907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60520" y="1700784"/>
            <a:ext cx="3822191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60520" y="1700784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51959" y="1737360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admit_date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32904" y="1741931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DATE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60520" y="1892807"/>
            <a:ext cx="3822191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60520" y="1892807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51959" y="1929384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discharge_date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32904" y="1933955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DATE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60520" y="2084832"/>
            <a:ext cx="3822191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60520" y="2084832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51959" y="2121408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paid_amount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32904" y="2125980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NUMERIC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60520" y="2276856"/>
            <a:ext cx="3822191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60520" y="2276856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51959" y="2313432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denial_code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32904" y="231800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60520" y="2468880"/>
            <a:ext cx="3822191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160520" y="2468880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51959" y="2505456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length_of_stay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232904" y="2510028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INT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174736" y="868680"/>
            <a:ext cx="3822191" cy="1453896"/>
          </a:xfrm>
          <a:prstGeom prst="rect">
            <a:avLst/>
          </a:prstGeom>
          <a:solidFill>
            <a:srgbClr val="C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156448" y="850392"/>
            <a:ext cx="3822191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156448" y="850392"/>
            <a:ext cx="3822191" cy="2743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47888" y="900684"/>
            <a:ext cx="3685031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PAYMENTS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156448" y="1124712"/>
            <a:ext cx="3822191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156448" y="1124712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202168" y="1161288"/>
            <a:ext cx="201168" cy="1234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02168" y="1158544"/>
            <a:ext cx="201168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439912" y="1161288"/>
            <a:ext cx="320039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21A2E"/>
                </a:solidFill>
              </a:rPr>
              <a:t>payment_id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228832" y="1165860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156448" y="1316736"/>
            <a:ext cx="3822191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56448" y="1316736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202168" y="1353312"/>
            <a:ext cx="201168" cy="12344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02168" y="1350568"/>
            <a:ext cx="201168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439912" y="1353312"/>
            <a:ext cx="320039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228832" y="135788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156448" y="1508760"/>
            <a:ext cx="3822191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156448" y="1508760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247888" y="1545336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payment_date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228832" y="1549907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DATE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156448" y="1700784"/>
            <a:ext cx="3822191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8156448" y="1700784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47888" y="1737360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payment_method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228832" y="1741931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156448" y="1892807"/>
            <a:ext cx="3822191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156448" y="1892807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247888" y="1929384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paid_amount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1228832" y="1933955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NUMERIC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156448" y="2084832"/>
            <a:ext cx="3822191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156448" y="2084832"/>
            <a:ext cx="3822191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247888" y="2121408"/>
            <a:ext cx="3255263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adjustment_code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228832" y="2125980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79" y="2889504"/>
            <a:ext cx="2761488" cy="1453896"/>
          </a:xfrm>
          <a:prstGeom prst="rect">
            <a:avLst/>
          </a:prstGeom>
          <a:solidFill>
            <a:srgbClr val="C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64592" y="2871216"/>
            <a:ext cx="2761488" cy="1453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164592" y="2871216"/>
            <a:ext cx="2761488" cy="2743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56032" y="2921508"/>
            <a:ext cx="2624328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PROVIDERS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64592" y="3145536"/>
            <a:ext cx="2761488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64592" y="3145536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10311" y="3182112"/>
            <a:ext cx="201168" cy="1234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1" y="3179368"/>
            <a:ext cx="201168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8056" y="3182112"/>
            <a:ext cx="213969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21A2E"/>
                </a:solidFill>
              </a:rPr>
              <a:t>provider_id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176272" y="318668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64592" y="3337560"/>
            <a:ext cx="2761488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64592" y="3337560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56032" y="3374136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provider_name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2176272" y="3378708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4592" y="3529584"/>
            <a:ext cx="2761488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64592" y="3529584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56032" y="3566160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specialty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176272" y="3570732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64592" y="3721608"/>
            <a:ext cx="2761488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64592" y="3721608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56032" y="3758184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city / state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176272" y="3762756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64592" y="3913632"/>
            <a:ext cx="2761488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64592" y="3913632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56032" y="3950208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tax_id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176272" y="3954780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64592" y="4105656"/>
            <a:ext cx="2761488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64592" y="4105656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56032" y="4142232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license_no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176272" y="414680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108960" y="2889504"/>
            <a:ext cx="2761488" cy="1645920"/>
          </a:xfrm>
          <a:prstGeom prst="rect">
            <a:avLst/>
          </a:prstGeom>
          <a:solidFill>
            <a:srgbClr val="C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090672" y="2871216"/>
            <a:ext cx="2761488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3090672" y="2871216"/>
            <a:ext cx="2761488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182112" y="2921508"/>
            <a:ext cx="2624328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CLAIM_LINES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3090672" y="3145536"/>
            <a:ext cx="2761488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090672" y="3145536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136392" y="3182112"/>
            <a:ext cx="201168" cy="1234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136392" y="3179368"/>
            <a:ext cx="201168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374136" y="3182112"/>
            <a:ext cx="213969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21A2E"/>
                </a:solidFill>
              </a:rPr>
              <a:t>line_id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102352" y="318668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3090672" y="3337560"/>
            <a:ext cx="2761488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090672" y="3337560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3136392" y="3374136"/>
            <a:ext cx="201168" cy="12344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3136392" y="3371392"/>
            <a:ext cx="201168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374136" y="3374136"/>
            <a:ext cx="213969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102352" y="3378708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090672" y="3529584"/>
            <a:ext cx="2761488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3090672" y="3529584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182112" y="3566160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service_date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102352" y="3570732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DATE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090672" y="3721608"/>
            <a:ext cx="2761488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3090672" y="3721608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3182112" y="3758184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procedure_code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102352" y="3762756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3090672" y="3913632"/>
            <a:ext cx="2761488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090672" y="3913632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182112" y="3950208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units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102352" y="3954780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INT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090672" y="4105656"/>
            <a:ext cx="2761488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090672" y="4105656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182112" y="4142232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rate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102352" y="414680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NUMERIC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3090672" y="4297680"/>
            <a:ext cx="2761488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090672" y="4297680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182112" y="4334256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line_amount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102352" y="4338828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NUMERIC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035040" y="2889504"/>
            <a:ext cx="2761488" cy="1069848"/>
          </a:xfrm>
          <a:prstGeom prst="rect">
            <a:avLst/>
          </a:prstGeom>
          <a:solidFill>
            <a:srgbClr val="C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016752" y="2871216"/>
            <a:ext cx="2761488" cy="1069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016752" y="2871216"/>
            <a:ext cx="2761488" cy="2743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6108192" y="2921508"/>
            <a:ext cx="2624328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DIAGNOSES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016752" y="3145536"/>
            <a:ext cx="2761488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016752" y="3145536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062472" y="3182112"/>
            <a:ext cx="201168" cy="1234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6062472" y="3179368"/>
            <a:ext cx="201168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300216" y="3182112"/>
            <a:ext cx="213969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21A2E"/>
                </a:solidFill>
              </a:rPr>
              <a:t>diag_id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028431" y="318668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016752" y="3337560"/>
            <a:ext cx="2761488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6016752" y="3337560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062472" y="3374136"/>
            <a:ext cx="201168" cy="12344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6062472" y="3371392"/>
            <a:ext cx="201168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300216" y="3374136"/>
            <a:ext cx="213969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028431" y="3378708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016752" y="3529584"/>
            <a:ext cx="2761488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016752" y="3529584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108192" y="3566160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diagnosis_code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028431" y="3570732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6016752" y="3721608"/>
            <a:ext cx="2761488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6016752" y="3721608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6108192" y="3758184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icd_version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8028431" y="3762756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8961119" y="2889504"/>
            <a:ext cx="2761488" cy="877824"/>
          </a:xfrm>
          <a:prstGeom prst="rect">
            <a:avLst/>
          </a:prstGeom>
          <a:solidFill>
            <a:srgbClr val="C4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8942832" y="2871216"/>
            <a:ext cx="27614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8942832" y="2871216"/>
            <a:ext cx="2761488" cy="2743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034272" y="2921508"/>
            <a:ext cx="2624328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PROCEDURES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8942832" y="3145536"/>
            <a:ext cx="2761488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942832" y="3145536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988552" y="3182112"/>
            <a:ext cx="201168" cy="1234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8988552" y="3179368"/>
            <a:ext cx="201168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9226296" y="3182112"/>
            <a:ext cx="213969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21A2E"/>
                </a:solidFill>
              </a:rPr>
              <a:t>proc_id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0954511" y="3186684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942832" y="3337560"/>
            <a:ext cx="2761488" cy="192024"/>
          </a:xfrm>
          <a:prstGeom prst="rect">
            <a:avLst/>
          </a:prstGeom>
          <a:solidFill>
            <a:srgbClr val="F5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942832" y="3337560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8988552" y="3374136"/>
            <a:ext cx="201168" cy="123444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8988552" y="3371392"/>
            <a:ext cx="201168" cy="132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1" i="0">
                <a:solidFill>
                  <a:srgbClr val="FFFFFF"/>
                </a:solidFill>
              </a:rPr>
              <a:t>FK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9226296" y="3374136"/>
            <a:ext cx="2139696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line_id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10954511" y="3378708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8942832" y="3529584"/>
            <a:ext cx="2761488" cy="1920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942832" y="3529584"/>
            <a:ext cx="2761488" cy="7315"/>
          </a:xfrm>
          <a:prstGeom prst="rect">
            <a:avLst/>
          </a:prstGeom>
          <a:solidFill>
            <a:srgbClr val="E4E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9034272" y="3566160"/>
            <a:ext cx="21945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21A2E"/>
                </a:solidFill>
              </a:rPr>
              <a:t>procedure_code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10954511" y="3570732"/>
            <a:ext cx="685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1">
                <a:solidFill>
                  <a:srgbClr val="555F77"/>
                </a:solidFill>
              </a:rPr>
              <a:t>VARCHAR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3986783" y="1673352"/>
            <a:ext cx="173736" cy="21945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982712" y="1769364"/>
            <a:ext cx="173735" cy="21945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071616" y="2688336"/>
            <a:ext cx="21945" cy="5486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471416" y="2743200"/>
            <a:ext cx="1600199" cy="21945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4471416" y="2743200"/>
            <a:ext cx="21945" cy="12801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2075688" y="2496312"/>
            <a:ext cx="21945" cy="24688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545336" y="2743200"/>
            <a:ext cx="530352" cy="21945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545336" y="2743200"/>
            <a:ext cx="21945" cy="128016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071616" y="2688336"/>
            <a:ext cx="21945" cy="54864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7397496" y="2743200"/>
            <a:ext cx="-1325880" cy="21945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7397496" y="2743200"/>
            <a:ext cx="21945" cy="128016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52160" y="3694176"/>
            <a:ext cx="1545335" cy="21945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7397496" y="3310128"/>
            <a:ext cx="21945" cy="384047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7397496" y="3310128"/>
            <a:ext cx="1545335" cy="21945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64592" y="6446520"/>
            <a:ext cx="11859768" cy="228600"/>
          </a:xfrm>
          <a:prstGeom prst="rect">
            <a:avLst/>
          </a:prstGeom>
          <a:solidFill>
            <a:srgbClr val="EE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274320" y="6469380"/>
            <a:ext cx="201168" cy="1417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530352" y="6469380"/>
            <a:ext cx="35661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PK  Primary Key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4251959" y="6469380"/>
            <a:ext cx="201168" cy="14173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4507992" y="6469380"/>
            <a:ext cx="35661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FK  Foreign Key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8229600" y="6469380"/>
            <a:ext cx="201168" cy="1417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8485632" y="6469380"/>
            <a:ext cx="35661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Line  Relationship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Star Schema  -  Data Warehouse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Fact tables (measures) connected to dimension tables (descriptors)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4708" y="870508"/>
            <a:ext cx="3547872" cy="1170432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" y="850392"/>
            <a:ext cx="354787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" y="850392"/>
            <a:ext cx="3547872" cy="260603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909828"/>
            <a:ext cx="365760" cy="1508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907084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DIM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896112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dim_member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111099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592" y="111099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113659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member_id  (PK)  masked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1289304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4592" y="128930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131490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gender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4592" y="1467612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" y="146761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" y="149321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city,  state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1645920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64592" y="1645920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" y="1671523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birth_year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1824228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4592" y="1824228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1849831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is_active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97172" y="870508"/>
            <a:ext cx="3547872" cy="992124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77055" y="850392"/>
            <a:ext cx="3547872" cy="9921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77055" y="850392"/>
            <a:ext cx="3547872" cy="260603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41063" y="909828"/>
            <a:ext cx="365760" cy="1508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41063" y="907084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DIM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61688" y="896112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dim_date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77055" y="111099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77055" y="111099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68495" y="113659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date_key  (PK)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77055" y="1289304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77055" y="128930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68495" y="131490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year,  quarter,  month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77055" y="1467612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77055" y="146761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68495" y="149321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month_name,  week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77055" y="1645920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877055" y="1645920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68495" y="1671523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day_name,  is_weekend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09636" y="870508"/>
            <a:ext cx="3547872" cy="1170432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589519" y="850392"/>
            <a:ext cx="354787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89519" y="850392"/>
            <a:ext cx="3547872" cy="260603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53527" y="909828"/>
            <a:ext cx="365760" cy="1508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53527" y="907084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DIM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74151" y="896112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dim_provider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19" y="111099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589519" y="111099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59" y="113659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provider_id  (PK)  masked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89519" y="1289304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89519" y="128930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59" y="131490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specialty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19" y="1467612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589519" y="146761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59" y="149321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city,  state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89519" y="1645920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589519" y="1645920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80959" y="1671523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tax_id  masked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19" y="1824228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589519" y="1824228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680959" y="1849831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license_no  masked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4708" y="2745028"/>
            <a:ext cx="3547872" cy="1170432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64592" y="2724912"/>
            <a:ext cx="354787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4592" y="2724912"/>
            <a:ext cx="3547872" cy="260603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28600" y="2784348"/>
            <a:ext cx="365760" cy="1508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8600" y="2781604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FACT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9224" y="2770632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fact_claim_line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64592" y="298551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64592" y="298551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6032" y="301111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line_id  (PK)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64592" y="3163824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64592" y="316382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56032" y="318942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claim_number  (FK)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64592" y="3342132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64592" y="334213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56032" y="336773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service_date_key  (FK)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64592" y="3520440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64592" y="3520440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56032" y="3546043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procedure_code  (FK)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4592" y="3698748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64592" y="3698748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56032" y="3724351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units,  rate,  line_amount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97172" y="2745028"/>
            <a:ext cx="3547872" cy="1527048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877055" y="2724912"/>
            <a:ext cx="3547872" cy="1527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877055" y="2724912"/>
            <a:ext cx="3547872" cy="260603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941063" y="2784348"/>
            <a:ext cx="365760" cy="1508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941063" y="2781604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FACT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361688" y="2770632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fact_claim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77055" y="298551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877055" y="298551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968495" y="301111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claim_number  (PK)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877055" y="3163824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877055" y="316382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968495" y="318942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member_id  (FK)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77055" y="3342132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877055" y="334213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68495" y="336773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provider_id  (FK)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877055" y="3520440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877055" y="3520440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968495" y="3546043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admit_date_key  (FK)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877055" y="3698748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877055" y="3698748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968495" y="3724351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length_of_stay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877055" y="3877056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877055" y="387705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968495" y="390265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allowed_amount,  paid_amount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877055" y="4055364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877055" y="405536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968495" y="408096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denial_code,  is_denied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609636" y="2745028"/>
            <a:ext cx="3547872" cy="1170432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589519" y="2724912"/>
            <a:ext cx="3547872" cy="1170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589519" y="2724912"/>
            <a:ext cx="3547872" cy="260603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653527" y="2784348"/>
            <a:ext cx="365760" cy="150876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653527" y="2781604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FACT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074151" y="2770632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fact_payment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589519" y="2985516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589519" y="2985516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680959" y="3011119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payment_id  (PK)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589519" y="3163824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589519" y="3163824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680959" y="3189427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claim_number  (FK)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89519" y="3342132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589519" y="334213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680959" y="336773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payment_date_key  (FK)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589519" y="3520440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589519" y="3520440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680959" y="3546043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payment_method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589519" y="3698748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589519" y="3698748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80959" y="3724351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paid_amount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84708" y="4793284"/>
            <a:ext cx="3547872" cy="635508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64592" y="4773168"/>
            <a:ext cx="3547872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64592" y="4773168"/>
            <a:ext cx="3547872" cy="260603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28600" y="4832604"/>
            <a:ext cx="365760" cy="1508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28600" y="4829860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DIM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49224" y="4818888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dim_diagnosis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64592" y="5033772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64592" y="503377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56032" y="505937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diagnosis_code  (PK)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164592" y="5212080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64592" y="5212080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56032" y="5237683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icd_version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3897172" y="4793284"/>
            <a:ext cx="3547872" cy="635508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877055" y="4773168"/>
            <a:ext cx="3547872" cy="6355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877055" y="4773168"/>
            <a:ext cx="3547872" cy="260603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941063" y="4832604"/>
            <a:ext cx="365760" cy="1508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941063" y="4829860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DIM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361688" y="4818888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dim_location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877055" y="5033772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877055" y="503377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3968495" y="505937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location_key  (PK)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3877055" y="5212080"/>
            <a:ext cx="3547872" cy="178308"/>
          </a:xfrm>
          <a:prstGeom prst="rect">
            <a:avLst/>
          </a:prstGeom>
          <a:solidFill>
            <a:srgbClr val="F2F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877055" y="5212080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968495" y="5237683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city,  state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7609636" y="4793284"/>
            <a:ext cx="3547872" cy="457200"/>
          </a:xfrm>
          <a:prstGeom prst="rect">
            <a:avLst/>
          </a:prstGeom>
          <a:solidFill>
            <a:srgbClr val="BEC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7589519" y="4773168"/>
            <a:ext cx="354787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7589519" y="4773168"/>
            <a:ext cx="3547872" cy="260603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653527" y="4832604"/>
            <a:ext cx="365760" cy="1508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653527" y="4829860"/>
            <a:ext cx="365760" cy="160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</a:rPr>
              <a:t>DIM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074151" y="4818888"/>
            <a:ext cx="2999232" cy="196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dim_procedure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589519" y="5033772"/>
            <a:ext cx="3547872" cy="1783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589519" y="5033772"/>
            <a:ext cx="3547872" cy="7315"/>
          </a:xfrm>
          <a:prstGeom prst="rect">
            <a:avLst/>
          </a:prstGeom>
          <a:solidFill>
            <a:srgbClr val="DF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7680959" y="5059375"/>
            <a:ext cx="3410712" cy="141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21A2E"/>
                </a:solidFill>
              </a:rPr>
              <a:t>procedure_code  (PK)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938528" y="2020824"/>
            <a:ext cx="20116" cy="352043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938528" y="2372868"/>
            <a:ext cx="3712463" cy="20116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5650992" y="2372868"/>
            <a:ext cx="20116" cy="352044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5650992" y="1842516"/>
            <a:ext cx="20116" cy="882395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363455" y="2020824"/>
            <a:ext cx="20116" cy="352043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5650992" y="2372868"/>
            <a:ext cx="3712463" cy="20116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712463" y="3310128"/>
            <a:ext cx="164591" cy="20116"/>
          </a:xfrm>
          <a:prstGeom prst="rect">
            <a:avLst/>
          </a:prstGeom>
          <a:solidFill>
            <a:srgbClr val="2C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424927" y="3488436"/>
            <a:ext cx="164591" cy="20116"/>
          </a:xfrm>
          <a:prstGeom prst="rect">
            <a:avLst/>
          </a:prstGeom>
          <a:solidFill>
            <a:srgbClr val="2C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1938528" y="3895344"/>
            <a:ext cx="20116" cy="877824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5650992" y="4251960"/>
            <a:ext cx="20116" cy="521207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9363455" y="3895344"/>
            <a:ext cx="20116" cy="877824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164592" y="6473952"/>
            <a:ext cx="11859768" cy="201168"/>
          </a:xfrm>
          <a:prstGeom prst="rect">
            <a:avLst/>
          </a:prstGeom>
          <a:solidFill>
            <a:srgbClr val="E6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256032" y="6496812"/>
            <a:ext cx="182880" cy="13258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93776" y="649681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A2E"/>
                </a:solidFill>
              </a:rPr>
              <a:t>FACT - stores measurable data (amounts, counts)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233672" y="6496812"/>
            <a:ext cx="182880" cy="13258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4471416" y="649681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A2E"/>
                </a:solidFill>
              </a:rPr>
              <a:t>DIM  - stores descriptive data (who, what, when)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211311" y="6496812"/>
            <a:ext cx="182880" cy="132588"/>
          </a:xfrm>
          <a:prstGeom prst="rect">
            <a:avLst/>
          </a:prstGeom>
          <a:solidFill>
            <a:srgbClr val="00A8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449055" y="6496812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21A2E"/>
                </a:solidFill>
              </a:rPr>
              <a:t>Line - relationship between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ETL Pipeline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Extract  -&gt;  Profile  -&gt;  Clean  -&gt;  Mask  -&gt;  Load  -&gt;  Analyse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960120"/>
            <a:ext cx="1847088" cy="228600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48132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Source
CSVs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76272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7 files
1.4M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2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5F77"/>
                </a:solidFill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960120"/>
            <a:ext cx="1847088" cy="228600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48132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2176272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Detect all
quality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31012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F77"/>
                </a:solidFill>
              </a:rPr>
              <a:t>step1_profile.py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5F77"/>
                </a:solidFill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960120"/>
            <a:ext cx="1847088" cy="228600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148132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Clean &amp;
Validate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5968" y="2176272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Remove bad rows
Save rejects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24528" y="331012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F77"/>
                </a:solidFill>
              </a:rPr>
              <a:t>step2_clean.py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8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5F77"/>
                </a:solidFill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960120"/>
            <a:ext cx="1847088" cy="22860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0216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216" y="148132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Mask
PII / PHI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216" y="2176272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Hash sensitive
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08776" y="331012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F77"/>
                </a:solidFill>
              </a:rPr>
              <a:t>step3_mask.py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1856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5F77"/>
                </a:solidFill>
              </a:rPr>
              <a:t>&gt;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93023" y="960120"/>
            <a:ext cx="1847088" cy="2286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84463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4463" y="148132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Full ETL
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84463" y="2176272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Build schema
Load all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3" y="331012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F77"/>
                </a:solidFill>
              </a:rPr>
              <a:t>step4_load_full.py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76103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55F77"/>
                </a:solidFill>
              </a:rPr>
              <a:t>&gt;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77272" y="960120"/>
            <a:ext cx="1847088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68711" y="1005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8711" y="1481328"/>
            <a:ext cx="1691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Incremental
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8711" y="2176272"/>
            <a:ext cx="1691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New rows only
watermark-based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77272" y="3310128"/>
            <a:ext cx="18745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555F77"/>
                </a:solidFill>
              </a:rPr>
              <a:t>step5_incremental.py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3703320"/>
            <a:ext cx="5623560" cy="260604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8600" y="3703320"/>
            <a:ext cx="91440" cy="26060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7673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53935"/>
                </a:solidFill>
              </a:rPr>
              <a:t>FULL LOAD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16052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A2E"/>
                </a:solidFill>
              </a:rPr>
              <a:t>-&gt; Drop all existing warehouse data
-&gt; Run DDL to recreate all tables
-&gt; Clean + mask + load all 1.4M rows
-&gt; Use when: first run or full refresh needed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3703320"/>
            <a:ext cx="5879592" cy="26060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80760" y="3703320"/>
            <a:ext cx="91440" cy="2606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3767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INCREMENTAL LOAD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160520"/>
            <a:ext cx="5486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A2E"/>
                </a:solidFill>
              </a:rPr>
              <a:t>-&gt; Read last_load_dt from etl_watermark table
-&gt; Filter CSV: rows where date &gt; last_load_dt
-&gt; Process and load ONLY those new rows
-&gt; Use when: daily/regular refresh needed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F77"/>
                </a:solidFill>
              </a:rPr>
              <a:t>Outputs: warehouse.db  |  rejected_rows/*.csv  |  logs/profiling_summary.json  |  logs/masking_audit.json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Quality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Issues identified during data profiling phase  -  6 categories of bad data found in source CSVs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868680"/>
            <a:ext cx="3813048" cy="267004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" y="868680"/>
            <a:ext cx="381304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932688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Missing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325880"/>
            <a:ext cx="3611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Blank or NULL in required fields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1856232"/>
            <a:ext cx="363016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" y="1911095"/>
            <a:ext cx="3611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CC"/>
                </a:solidFill>
              </a:rPr>
              <a:t>Columns affected: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2093976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first_name, email, city, diagnosis_code, specialty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3063240"/>
            <a:ext cx="3630168" cy="384048"/>
          </a:xfrm>
          <a:prstGeom prst="rect">
            <a:avLst/>
          </a:prstGeom>
          <a:solidFill>
            <a:srgbClr val="0F52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3118104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27,793 member rows  |  1,576 provider rows  |  3 diagnosis rows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2231" y="868680"/>
            <a:ext cx="3813048" cy="2670048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42231" y="868680"/>
            <a:ext cx="381304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7" y="932688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Orphan Foreign Keys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7" y="1325880"/>
            <a:ext cx="3611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__ORPHAN__ marker where parent record is missing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33671" y="1856232"/>
            <a:ext cx="363016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0247" y="1911095"/>
            <a:ext cx="3611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CC"/>
                </a:solidFill>
              </a:rPr>
              <a:t>Columns affected: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70247" y="2093976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member_id in claims, claim_number in payments/diagnoses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3671" y="3063240"/>
            <a:ext cx="3630168" cy="384048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3" y="3118104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30,000 orphan member_id  |  40,000 orphan claim_number in payments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9871" y="868680"/>
            <a:ext cx="3813048" cy="2670048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9871" y="868680"/>
            <a:ext cx="381304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932688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Negative Amounts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1325880"/>
            <a:ext cx="3611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Invalid negative values in financial columns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11311" y="1856232"/>
            <a:ext cx="363016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7888" y="1911095"/>
            <a:ext cx="3611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CC"/>
                </a:solidFill>
              </a:rPr>
              <a:t>Columns affected: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2093976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allowed_amount, paid_amount, units, line_amount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11311" y="3063240"/>
            <a:ext cx="3630168" cy="384048"/>
          </a:xfrm>
          <a:prstGeom prst="rect">
            <a:avLst/>
          </a:prstGeom>
          <a:solidFill>
            <a:srgbClr val="BF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3" y="3118104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30,000 negative allowed_amount  |  110,000 negative units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4592" y="3703320"/>
            <a:ext cx="3813048" cy="2670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64592" y="3703320"/>
            <a:ext cx="381304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3767328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Future Dates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" y="4160520"/>
            <a:ext cx="3611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Timestamps set in the future (impossible for past events)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" y="4690872"/>
            <a:ext cx="363016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2608" y="4745736"/>
            <a:ext cx="3611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CC"/>
                </a:solidFill>
              </a:rPr>
              <a:t>Columns affected: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2608" y="4928616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admit_date, service_date, dob, payment_date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5897879"/>
            <a:ext cx="3630168" cy="384048"/>
          </a:xfrm>
          <a:prstGeom prst="rect">
            <a:avLst/>
          </a:prstGeom>
          <a:solidFill>
            <a:srgbClr val="4A0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9184" y="5952744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22,880 future DOB  |  75 future admit_date  |  329 future service_date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2231" y="3703320"/>
            <a:ext cx="3813048" cy="267004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42231" y="3703320"/>
            <a:ext cx="381304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70247" y="3767328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Duplicate Primary Keys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0247" y="4160520"/>
            <a:ext cx="3611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Same primary key value appearing more than once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33671" y="4690872"/>
            <a:ext cx="363016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70247" y="4745736"/>
            <a:ext cx="3611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CC"/>
                </a:solidFill>
              </a:rPr>
              <a:t>Columns affected: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70247" y="4928616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claim_number, member_id, provider_id, line_id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33671" y="5897879"/>
            <a:ext cx="3630168" cy="384048"/>
          </a:xfrm>
          <a:prstGeom prst="rect">
            <a:avLst/>
          </a:prstGeom>
          <a:solidFill>
            <a:srgbClr val="008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06823" y="5952744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7,500 duplicate claim_number  |  6,000 duplicate member_id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19871" y="3703320"/>
            <a:ext cx="3813048" cy="2670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119871" y="3703320"/>
            <a:ext cx="3813048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47888" y="3767328"/>
            <a:ext cx="3630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Type Mismatches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47888" y="4160520"/>
            <a:ext cx="361187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Text values found where numeric data is required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11311" y="4690872"/>
            <a:ext cx="3630168" cy="182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47888" y="4745736"/>
            <a:ext cx="3611879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CC"/>
                </a:solidFill>
              </a:rPr>
              <a:t>Columns affected: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47888" y="4928616"/>
            <a:ext cx="36118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paid_amount, rate, length_of_stay (LOS)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11311" y="5897879"/>
            <a:ext cx="3630168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84463" y="5952744"/>
            <a:ext cx="3538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FFFFFF"/>
                </a:solidFill>
              </a:rPr>
              <a:t>paid_amount = 'ERR'  |  rate = 'MISSING'  |  40,000+ rows affected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Cleaning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Validation applied entity-by-entity in dependency 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841248"/>
            <a:ext cx="180136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" y="877824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841248"/>
            <a:ext cx="116128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2" y="877824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841248"/>
            <a:ext cx="134416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877824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Valid (Kept)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841248"/>
            <a:ext cx="116128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877824"/>
            <a:ext cx="1042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841248"/>
            <a:ext cx="79552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877824"/>
            <a:ext cx="6766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841248"/>
            <a:ext cx="573328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877824"/>
            <a:ext cx="56144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Main Rejection Reasons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234440"/>
            <a:ext cx="18013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" y="1271016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0" y="1234440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84832" y="12710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2,60,000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1234440"/>
            <a:ext cx="13441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73552" y="1271016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2,32,207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0" y="1234440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5152" y="12710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27,793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1234440"/>
            <a:ext cx="79552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3872" y="1271016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10.7%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1234440"/>
            <a:ext cx="5733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1271016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Missing name, future DOB, duplicate 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1691640"/>
            <a:ext cx="180136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" y="1728216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providers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11680" y="1691640"/>
            <a:ext cx="1161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84832" y="17282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40,000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1691640"/>
            <a:ext cx="134416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73552" y="1728216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38,424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0" y="1691640"/>
            <a:ext cx="1161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5152" y="17282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1,576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1691640"/>
            <a:ext cx="79552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33872" y="1728216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3.9%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1691640"/>
            <a:ext cx="5733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56832" y="1728216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Missing specialty, duplicate 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2148840"/>
            <a:ext cx="18013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6032" y="2185416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0" y="2148840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084832" y="21854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2,40,000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2148840"/>
            <a:ext cx="13441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73552" y="2185416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2,08,640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0" y="2148840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45152" y="21854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31,360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148840"/>
            <a:ext cx="79552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33872" y="2185416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13.1%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2148840"/>
            <a:ext cx="5733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56832" y="2185416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Orphan member_id, negative amount, future date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2606040"/>
            <a:ext cx="180136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" y="2642616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claim_lines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1680" y="2606040"/>
            <a:ext cx="1161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84832" y="26426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7,60,000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0" y="2606040"/>
            <a:ext cx="134416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73552" y="2642616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6,45,733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0" y="2606040"/>
            <a:ext cx="1161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45152" y="26426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1,14,267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760720" y="2606040"/>
            <a:ext cx="79552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33872" y="2642616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15.0%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0" y="2606040"/>
            <a:ext cx="5733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56832" y="2642616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Orphan claim_number, negative units, bad rate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063240"/>
            <a:ext cx="18013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6032" y="3099816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payments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011680" y="3063240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084832" y="30998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1,00,000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00400" y="3063240"/>
            <a:ext cx="13441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273552" y="3099816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59,615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0" y="3063240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645152" y="30998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40,385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760720" y="3063240"/>
            <a:ext cx="79552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833872" y="3099816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40.4%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583680" y="3063240"/>
            <a:ext cx="5733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656832" y="3099816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Orphan claim_number, non-numeric amount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3520440"/>
            <a:ext cx="180136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56032" y="3557016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diagnoses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011680" y="3520440"/>
            <a:ext cx="1161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084832" y="35570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60,000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0" y="3520440"/>
            <a:ext cx="134416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273552" y="3557016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39,741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572000" y="3520440"/>
            <a:ext cx="1161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45152" y="3557016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20,259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60720" y="3520440"/>
            <a:ext cx="79552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33872" y="3557016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33.8%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583680" y="3520440"/>
            <a:ext cx="5733288" cy="42062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656832" y="3557016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Orphan claim_number, invalid ICD version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82880" y="3977639"/>
            <a:ext cx="18013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56032" y="4014215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procedures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011680" y="3977639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084832" y="4014215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40,000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200400" y="3977639"/>
            <a:ext cx="134416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273552" y="4014215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24,844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572000" y="3977639"/>
            <a:ext cx="1161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645152" y="4014215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15,156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760720" y="3977639"/>
            <a:ext cx="79552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833872" y="4014215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37.9%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583680" y="3977639"/>
            <a:ext cx="5733288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656832" y="4014215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Orphan line_id, missing procedure code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4462272"/>
            <a:ext cx="1801368" cy="42062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56032" y="4498848"/>
            <a:ext cx="16824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011680" y="4462272"/>
            <a:ext cx="1161288" cy="42062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084832" y="4498848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14,00,000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200400" y="4462272"/>
            <a:ext cx="1344168" cy="42062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273552" y="4498848"/>
            <a:ext cx="122529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12,49,204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572000" y="4462272"/>
            <a:ext cx="1161288" cy="42062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645152" y="4498848"/>
            <a:ext cx="1042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2,50,796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760720" y="4462272"/>
            <a:ext cx="795528" cy="42062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833872" y="4498848"/>
            <a:ext cx="67665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17.9%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583680" y="4462272"/>
            <a:ext cx="5733288" cy="42062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656832" y="4498848"/>
            <a:ext cx="56144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All quality issues combined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5029200"/>
            <a:ext cx="2834640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20040" y="51206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12,49,204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74320" y="57790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Valid Rows Loaded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3172968" y="5029200"/>
            <a:ext cx="2834640" cy="150876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310128" y="51206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2,50,796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264408" y="57790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Rows Rejected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163056" y="5029200"/>
            <a:ext cx="2834640" cy="150876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300216" y="51206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17.9%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254496" y="57790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Overall Reject Rate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153144" y="5029200"/>
            <a:ext cx="2834640" cy="150876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290304" y="51206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7 files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9244584" y="577900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Audit CSVs Saved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Data Masking  –  PII / PHI Protection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Deterministic HMAC-SHA256 tokenisation applied before warehouse loading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841248"/>
            <a:ext cx="5577840" cy="12344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841248"/>
            <a:ext cx="73152" cy="123444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91440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FC4"/>
                </a:solidFill>
              </a:rPr>
              <a:t>Why Masking?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1280160"/>
            <a:ext cx="5349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1A2E"/>
                </a:solidFill>
              </a:rPr>
              <a:t>Analysts querying the warehouse must never see real patient names, emails, phone numbers or exact dates of birth. Masking protects privacy while keeping all analytical relationships intact.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841248"/>
            <a:ext cx="5943600" cy="123444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841248"/>
            <a:ext cx="73152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914400"/>
            <a:ext cx="5715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How It Works  —  HMAC-SHA256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1280160"/>
            <a:ext cx="5715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21A2E"/>
                </a:solidFill>
              </a:rPr>
              <a:t>DETERMINISTIC: same input always produces the same token (JOINs work)
IRREVERSIBLE: cannot be decoded back to the original value
SALT: a secret key makes tokens unique to this project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2240280"/>
            <a:ext cx="180136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2276856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Field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240280"/>
            <a:ext cx="152704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84832" y="2276856"/>
            <a:ext cx="14081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Entity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240280"/>
            <a:ext cx="198424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2276856"/>
            <a:ext cx="186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Technique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0" y="2240280"/>
            <a:ext cx="299008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50992" y="2276856"/>
            <a:ext cx="28712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Before (Raw)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240280"/>
            <a:ext cx="2807208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68512" y="2276856"/>
            <a:ext cx="2688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After (Masked)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633472"/>
            <a:ext cx="180136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" y="2670048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member_id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2633472"/>
            <a:ext cx="15270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84832" y="2670048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2633472"/>
            <a:ext cx="19842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9312" y="267004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Deterministic token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0" y="2633472"/>
            <a:ext cx="29900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50992" y="2670048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M0000001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2633472"/>
            <a:ext cx="280720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68512" y="2670048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MBR3F9A2C1D4E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035808"/>
            <a:ext cx="180136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6032" y="3072384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first_name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0" y="3035808"/>
            <a:ext cx="152704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84832" y="3072384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3035808"/>
            <a:ext cx="198424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39312" y="3072384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Deterministic token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7840" y="3035808"/>
            <a:ext cx="299008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50992" y="3072384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Alice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3035808"/>
            <a:ext cx="280720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68512" y="3072384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FN8B2C3D4E5F6A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3438144"/>
            <a:ext cx="180136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56032" y="3474720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email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11680" y="3438144"/>
            <a:ext cx="15270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84832" y="3474720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3438144"/>
            <a:ext cx="19842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39312" y="3474720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Deterministic token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3438144"/>
            <a:ext cx="29900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50992" y="3474720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alice@gmail.com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3438144"/>
            <a:ext cx="280720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68512" y="3474720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EMAIF29A3B1C2D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3840480"/>
            <a:ext cx="180136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6032" y="3877056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phone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11680" y="3840480"/>
            <a:ext cx="152704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084832" y="3877056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66160" y="3840480"/>
            <a:ext cx="198424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39312" y="3877056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Deterministic token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77840" y="3840480"/>
            <a:ext cx="299008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50992" y="3877056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9876543210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95360" y="3840480"/>
            <a:ext cx="280720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668512" y="3877056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PH8A2B3C4D5E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2880" y="4242816"/>
            <a:ext cx="180136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56032" y="4279392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dob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1680" y="4242816"/>
            <a:ext cx="15270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84832" y="4279392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66160" y="4242816"/>
            <a:ext cx="19842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39312" y="4279392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Year only (generalise)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77840" y="4242816"/>
            <a:ext cx="29900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50992" y="4279392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1985-03-10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0" y="4242816"/>
            <a:ext cx="280720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668512" y="4279392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1985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2880" y="4645152"/>
            <a:ext cx="180136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6032" y="4681728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tax_id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11680" y="4645152"/>
            <a:ext cx="152704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84832" y="4681728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providers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66160" y="4645152"/>
            <a:ext cx="198424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39312" y="468172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Deterministic token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577840" y="4645152"/>
            <a:ext cx="299008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50992" y="4681728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908430420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595360" y="4645152"/>
            <a:ext cx="2807208" cy="374904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68512" y="4681728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TAX2B3C4D5E6F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82880" y="5047488"/>
            <a:ext cx="180136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56032" y="5084064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11680" y="5047488"/>
            <a:ext cx="15270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84832" y="5084064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claims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566160" y="5047488"/>
            <a:ext cx="198424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639312" y="5084064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Deterministic token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577840" y="5047488"/>
            <a:ext cx="299008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650992" y="5084064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CL00155929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95360" y="5047488"/>
            <a:ext cx="280720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68512" y="5084064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CLM4E5F6A7B8C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82880" y="5449824"/>
            <a:ext cx="1801368" cy="3749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56032" y="5486400"/>
            <a:ext cx="1682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city / state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11680" y="5449824"/>
            <a:ext cx="1527048" cy="3749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084832" y="5486400"/>
            <a:ext cx="14081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members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566160" y="5449824"/>
            <a:ext cx="1984248" cy="3749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639312" y="5486400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Kept as-is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577840" y="5449824"/>
            <a:ext cx="2990088" cy="3749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50992" y="5486400"/>
            <a:ext cx="287121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Mumbai, Maharashtra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595360" y="5449824"/>
            <a:ext cx="2807208" cy="374904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668512" y="5486400"/>
            <a:ext cx="26883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21A2E"/>
                </a:solidFill>
              </a:rPr>
              <a:t>Mumbai, Maharashtra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2880" y="608076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Fields kept clear: city, state, gender, specialty, procedure_code, diagnosis_code, amounts, payment_method, dates (non-DOB)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Analytical SQL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10 business questions answered from the warehouse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914400"/>
            <a:ext cx="594360" cy="96012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" y="1005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9784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Total Claims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3533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COUNT, SUM, AVG on fact_claim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91440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914400"/>
            <a:ext cx="594360" cy="9601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1005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97840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Monthly Paid Trend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135331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JOIN fact_claim + dim_date, GROUP BY year/month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1168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2011680"/>
            <a:ext cx="594360" cy="960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20756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Top 10 Procedures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24505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GROUP BY procedure_code ORDER BY COUNT(*)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01168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2011680"/>
            <a:ext cx="594360" cy="9601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2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2008" y="20756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Provider Scorecard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24505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JOIN dim_provider, AVG paid, denial_rate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310896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3108960"/>
            <a:ext cx="594360" cy="96012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31729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Denial Rate Breakdown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35478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CASE WHEN denial_code, GROUP BY denial_reason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310896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3108960"/>
            <a:ext cx="594360" cy="96012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45352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2008" y="317296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Length of Stay Dist.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22008" y="354787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GROUP BY length_of_stay, AVG paid_amount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420624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82880" y="4206240"/>
            <a:ext cx="594360" cy="9601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6032" y="4297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42702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Member Utilisation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6451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JOIN dim_member, SUM paid, ORDER BY spend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20624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4206240"/>
            <a:ext cx="594360" cy="96012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5352" y="42976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22008" y="42702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Geographic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22008" y="46451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JOIN dim_member on city/state, SUM by state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530352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82880" y="5303520"/>
            <a:ext cx="594360" cy="96012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6032" y="53949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" y="5367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Payment Method Split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" y="574243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GROUP BY payment_method, SUM paid_amount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5303520"/>
            <a:ext cx="5806440" cy="96012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72200" y="5303520"/>
            <a:ext cx="594360" cy="96012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45352" y="53949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Q10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22008" y="536752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Diagnosis Cost Analysis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22008" y="574243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F77"/>
                </a:solidFill>
              </a:rPr>
              <a:t>Link diagnoses to claims, cost by ICD code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2880" y="644652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F77"/>
                </a:solidFill>
              </a:rPr>
              <a:t>All queries run against the live SQLite warehouse via Python / Jupyter Notebook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Key Business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Live results from the warehouse after full ETL 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914400"/>
            <a:ext cx="2834640" cy="1920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2770632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024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Total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316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2,08,640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914400"/>
            <a:ext cx="2834640" cy="192024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72968" y="2770632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1024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Total Allowed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2696" y="1316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Rs 20.9B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0128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billed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914400"/>
            <a:ext cx="2834640" cy="19202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3056" y="2770632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1024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Total Paid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2784" y="1316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Rs 15.68B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paid 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3144" y="914400"/>
            <a:ext cx="2834640" cy="19202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2770632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90304" y="1024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Avg per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1316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Rs 75,156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0304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average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3200400"/>
            <a:ext cx="2834640" cy="192024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2880" y="5056631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310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Denial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" y="3602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49.92%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251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claims denied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72968" y="3200400"/>
            <a:ext cx="2834640" cy="1920240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72968" y="5056631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3310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Top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82696" y="3602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Punjab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0128" y="4251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highest spend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63056" y="3200400"/>
            <a:ext cx="2834640" cy="192024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63056" y="5056631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0216" y="3310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Top Procedure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72784" y="3602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CPT35289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0216" y="4251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417 uses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53144" y="3200400"/>
            <a:ext cx="2834640" cy="192024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53144" y="5056631"/>
            <a:ext cx="2834640" cy="64008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90304" y="3310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DEEFF"/>
                </a:solidFill>
              </a:rPr>
              <a:t>Payment Methods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2872" y="3602736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4 types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0304" y="4251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E5FF"/>
                </a:solidFill>
              </a:rPr>
              <a:t>equal split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" y="5897880"/>
            <a:ext cx="1179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F77"/>
                </a:solidFill>
              </a:rPr>
              <a:t>Source: warehouse.db  |  208,640 valid claims  |  ~12.5 million total rows across all tables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Analytics Visualizations  –  Part 1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Monthly trend  |  Top procedures  |  Denial rate  |  Length of stay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841248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841248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87782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Monthly Paid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1521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Consistent ~Rs 540M/month</a:t>
            </a:r>
          </a:p>
        </p:txBody>
      </p:sp>
      <p:pic>
        <p:nvPicPr>
          <p:cNvPr id="12" name="Picture 11" descr="01_monthly_p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408176"/>
            <a:ext cx="5687568" cy="202996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90488" y="841248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841248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87782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Top 10 Procedures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11521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CPT35289 highest at 417 uses</a:t>
            </a:r>
          </a:p>
        </p:txBody>
      </p:sp>
      <p:pic>
        <p:nvPicPr>
          <p:cNvPr id="17" name="Picture 16" descr="02_top_proced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08176"/>
            <a:ext cx="5687568" cy="202996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749039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3749039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78561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Denial Rate by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405993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49.9% denied — D001/D002/D003</a:t>
            </a:r>
          </a:p>
        </p:txBody>
      </p:sp>
      <p:pic>
        <p:nvPicPr>
          <p:cNvPr id="22" name="Picture 21" descr="04_denial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315968"/>
            <a:ext cx="5687568" cy="202996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190488" y="3749039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0488" y="3749039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378561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Length of Stay (0-30 days)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405993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Flat distribution across LOS</a:t>
            </a:r>
          </a:p>
        </p:txBody>
      </p:sp>
      <p:pic>
        <p:nvPicPr>
          <p:cNvPr id="27" name="Picture 26" descr="05_los_distribu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315968"/>
            <a:ext cx="5687568" cy="20299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Analytics Visualizations  –  Part 2 of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Provider performance  |  Geographic  |  Member utilisation  |  Payment methods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841248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841248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87782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Provider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11521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Some providers &gt;60% denial rate</a:t>
            </a:r>
          </a:p>
        </p:txBody>
      </p:sp>
      <p:pic>
        <p:nvPicPr>
          <p:cNvPr id="12" name="Picture 11" descr="03_provider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408176"/>
            <a:ext cx="5687568" cy="202996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90488" y="841248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841248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0216" y="87782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Paid by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0216" y="1152144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Punjab &amp; Odisha lead</a:t>
            </a:r>
          </a:p>
        </p:txBody>
      </p:sp>
      <p:pic>
        <p:nvPicPr>
          <p:cNvPr id="17" name="Picture 16" descr="07_geo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408176"/>
            <a:ext cx="5687568" cy="2029968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82880" y="3749039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2880" y="3749039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" y="378561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Member Utilisation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" y="405993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High-spend members by gender</a:t>
            </a:r>
          </a:p>
        </p:txBody>
      </p:sp>
      <p:pic>
        <p:nvPicPr>
          <p:cNvPr id="22" name="Picture 21" descr="06_member_utilis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4315968"/>
            <a:ext cx="5687568" cy="2029968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190488" y="3749039"/>
            <a:ext cx="5833872" cy="2697480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0488" y="3749039"/>
            <a:ext cx="5833872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378561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Payment Methods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405993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NEFT/UPI/RTGS/Cheque equal split</a:t>
            </a:r>
          </a:p>
        </p:txBody>
      </p:sp>
      <p:pic>
        <p:nvPicPr>
          <p:cNvPr id="27" name="Picture 26" descr="08_payment_metho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315968"/>
            <a:ext cx="5687568" cy="202996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Database indexes + vectorised Pandas + masking impact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841248"/>
            <a:ext cx="5623560" cy="31546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841248"/>
            <a:ext cx="91440" cy="3154680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896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6FC4"/>
                </a:solidFill>
              </a:rPr>
              <a:t>Database Indexes  (in DDL)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280160"/>
            <a:ext cx="1892808" cy="29260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316736"/>
            <a:ext cx="1773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1280160"/>
            <a:ext cx="1801368" cy="29260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9152" y="1316736"/>
            <a:ext cx="1682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280160"/>
            <a:ext cx="1389888" cy="292608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87952" y="1316736"/>
            <a:ext cx="127101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Column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91056"/>
            <a:ext cx="189280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1627632"/>
            <a:ext cx="17739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idx_fc_member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1591056"/>
            <a:ext cx="180136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9152" y="1627632"/>
            <a:ext cx="16824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fact_claim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0" y="1591056"/>
            <a:ext cx="13898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87952" y="1627632"/>
            <a:ext cx="12710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member_id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865376"/>
            <a:ext cx="189280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1901952"/>
            <a:ext cx="17739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idx_fc_provider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1865376"/>
            <a:ext cx="180136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9152" y="1901952"/>
            <a:ext cx="16824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fact_claim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1865376"/>
            <a:ext cx="138988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1901952"/>
            <a:ext cx="12710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provider_id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139696"/>
            <a:ext cx="189280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" y="2176272"/>
            <a:ext cx="17739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idx_fc_admit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2139696"/>
            <a:ext cx="180136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59152" y="2176272"/>
            <a:ext cx="16824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fact_claim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2139696"/>
            <a:ext cx="13898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87952" y="2176272"/>
            <a:ext cx="12710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admit_date_key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414015"/>
            <a:ext cx="189280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2450591"/>
            <a:ext cx="17739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idx_fc_denied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0" y="2414015"/>
            <a:ext cx="180136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59152" y="2450591"/>
            <a:ext cx="16824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fact_claim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0" y="2414015"/>
            <a:ext cx="138988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87952" y="2450591"/>
            <a:ext cx="12710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is_denied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2688336"/>
            <a:ext cx="189280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8912" y="2724912"/>
            <a:ext cx="17739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idx_fcl_claim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0" y="2688336"/>
            <a:ext cx="180136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59152" y="2724912"/>
            <a:ext cx="16824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fact_claim_line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0" y="2688336"/>
            <a:ext cx="13898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87952" y="2724912"/>
            <a:ext cx="12710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962656"/>
            <a:ext cx="189280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2999232"/>
            <a:ext cx="17739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idx_fp_claim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0" y="2962656"/>
            <a:ext cx="180136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59152" y="2999232"/>
            <a:ext cx="16824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fact_payment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0" y="2962656"/>
            <a:ext cx="1389888" cy="25603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87952" y="2999232"/>
            <a:ext cx="12710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claim_number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236976"/>
            <a:ext cx="189280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38912" y="3273552"/>
            <a:ext cx="177393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idx_dp_specialty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0" y="3236976"/>
            <a:ext cx="180136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59152" y="3273552"/>
            <a:ext cx="168249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dim_provider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0" y="3236976"/>
            <a:ext cx="1389888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87952" y="3273552"/>
            <a:ext cx="127101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21A2E"/>
                </a:solidFill>
              </a:rPr>
              <a:t>specialty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9320" y="841248"/>
            <a:ext cx="5989320" cy="3154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89320" y="841248"/>
            <a:ext cx="91440" cy="3154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17920" y="896112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Vectorised Pandas Operations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0" y="1298448"/>
            <a:ext cx="5669280" cy="210312"/>
          </a:xfrm>
          <a:prstGeom prst="rect">
            <a:avLst/>
          </a:prstGeom>
          <a:solidFill>
            <a:srgbClr val="D0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9632" y="1325880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1A2E"/>
                </a:solidFill>
              </a:rPr>
              <a:t>pd.to_numeric(col, errors='coerce')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99632" y="1517904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Converts entire column at once — no row loops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26480" y="1773936"/>
            <a:ext cx="5669280" cy="210312"/>
          </a:xfrm>
          <a:prstGeom prst="rect">
            <a:avLst/>
          </a:prstGeom>
          <a:solidFill>
            <a:srgbClr val="D0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99632" y="180136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1A2E"/>
                </a:solidFill>
              </a:rPr>
              <a:t>pd.to_datetime(col, errors='coerce')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99632" y="1993391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Parses all dates in single operation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26480" y="2249424"/>
            <a:ext cx="5669280" cy="210312"/>
          </a:xfrm>
          <a:prstGeom prst="rect">
            <a:avLst/>
          </a:prstGeom>
          <a:solidFill>
            <a:srgbClr val="D0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99632" y="2276856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1A2E"/>
                </a:solidFill>
              </a:rPr>
              <a:t>df[boolean_mask]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199632" y="2468880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Filters millions of rows instantly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26480" y="2724912"/>
            <a:ext cx="5669280" cy="210312"/>
          </a:xfrm>
          <a:prstGeom prst="rect">
            <a:avLst/>
          </a:prstGeom>
          <a:solidFill>
            <a:srgbClr val="D0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99632" y="2752344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1A2E"/>
                </a:solidFill>
              </a:rPr>
              <a:t>Series.map(dictionary)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99632" y="2944368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Remaps FK columns — 100x faster than apply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26480" y="3200400"/>
            <a:ext cx="5669280" cy="210312"/>
          </a:xfrm>
          <a:prstGeom prst="rect">
            <a:avLst/>
          </a:prstGeom>
          <a:solidFill>
            <a:srgbClr val="D0F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99632" y="3227832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21A2E"/>
                </a:solidFill>
              </a:rPr>
              <a:t>pd.concat + drop_duplicates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99632" y="3419856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Deduplication across full entity datasets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2880" y="4160520"/>
            <a:ext cx="11795760" cy="141732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82880" y="4160520"/>
            <a:ext cx="91440" cy="1417320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42245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7C00"/>
                </a:solidFill>
              </a:rPr>
              <a:t>Masking Impact on Analytics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461772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21A2E"/>
                </a:solidFill>
              </a:rPr>
              <a:t>Deterministic masking means member_id 'M0000001' ALWAYS becomes 'MBR3F9A2C1D4E'  -&gt;  JOINs between fact_claim, dim_member and dim_provider work correctly.
City/state kept clear  -&gt;  geographic analysis fully functional.   DOB -&gt; birth_year  -&gt;  age band analysis still possible.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2880" y="5742432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F77"/>
                </a:solidFill>
              </a:rPr>
              <a:t>Full ETL run: ~3-5 min on laptop  |  Incremental: seconds  |  Warehouse: 9 tables, ~12.5M rows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54864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Project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02336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8F0"/>
                </a:solidFill>
              </a:rPr>
              <a:t>All required outputs per the capstone document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731520"/>
            <a:ext cx="3200400" cy="36576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880" y="868680"/>
            <a:ext cx="5806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2880" y="868680"/>
            <a:ext cx="73152" cy="43891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978407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978407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89611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Star Schema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10642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01_star_schema_ddl.sql — 9 tables with FK indexes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868680"/>
            <a:ext cx="58064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868680"/>
            <a:ext cx="73152" cy="43891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978407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4" y="978407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89611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ER Diagram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110642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Entity relationships across all 7 source tables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" y="1371600"/>
            <a:ext cx="5806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2880" y="1371600"/>
            <a:ext cx="73152" cy="43891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148132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148132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139903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Analytical SQL Queries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160934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02_analytical_queries.sql — 10 business queries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1371600"/>
            <a:ext cx="58064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1371600"/>
            <a:ext cx="73152" cy="4389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148132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504" y="148132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139903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Data Profiling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1112" y="160934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logs/profiling_summary.json — quality findings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" y="1874519"/>
            <a:ext cx="5806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2880" y="1874519"/>
            <a:ext cx="73152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198424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9184" y="198424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1901951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ETL Full Load Script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211226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step4_load_full.py — drops + reloads everything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1874519"/>
            <a:ext cx="58064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72200" y="1874519"/>
            <a:ext cx="73152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198424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18504" y="198424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11112" y="1901951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ETL Incremental Load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11112" y="2112263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step5_load_incremental.py — watermark-based new rows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2880" y="2377440"/>
            <a:ext cx="5806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82880" y="2377440"/>
            <a:ext cx="73152" cy="43891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248716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" y="248716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240487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Data Masking Logic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261518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step3_mask.py — HMAC-SHA256 deterministic hashing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2377440"/>
            <a:ext cx="58064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72200" y="2377440"/>
            <a:ext cx="73152" cy="43891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60" y="248716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18504" y="248716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11112" y="240487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Masking Audit 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11112" y="261518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logs/masking_audit.json — fields masked + counts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2880" y="2880360"/>
            <a:ext cx="5806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82880" y="2880360"/>
            <a:ext cx="73152" cy="438912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20040" y="299008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9184" y="299008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" y="290779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Error / Rejection Logs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" y="311810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output/rejected_rows/*.csv — 7 audit files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72200" y="2880360"/>
            <a:ext cx="58064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72200" y="2880360"/>
            <a:ext cx="73152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09360" y="299008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18504" y="299008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11112" y="290779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Python Analytics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11112" y="311810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analytics.py — 9 queries + CSV results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2880" y="3383280"/>
            <a:ext cx="5806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82880" y="3383280"/>
            <a:ext cx="73152" cy="4389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20040" y="349300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9184" y="349300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" y="341071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8 Matplotlib Charts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1792" y="362102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output/charts/*.png — all visualisations saved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72200" y="3383280"/>
            <a:ext cx="58064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72200" y="3383280"/>
            <a:ext cx="73152" cy="438912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09360" y="349300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318504" y="349300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11112" y="341071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Jupyter Notebook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11112" y="362102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analytics_notebook.ipynb — interactive analysis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82880" y="3886200"/>
            <a:ext cx="580644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82880" y="3886200"/>
            <a:ext cx="73152" cy="438912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20040" y="399592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9184" y="399592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792" y="391363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Optimisation Summary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21792" y="412394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Indexes + vectorised Pandas + masking impact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72200" y="3886200"/>
            <a:ext cx="5806440" cy="438912"/>
          </a:xfrm>
          <a:prstGeom prst="rect">
            <a:avLst/>
          </a:prstGeom>
          <a:solidFill>
            <a:srgbClr val="E8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172200" y="3886200"/>
            <a:ext cx="73152" cy="438912"/>
          </a:xfrm>
          <a:prstGeom prst="rect">
            <a:avLst/>
          </a:prstGeom>
          <a:solidFill>
            <a:srgbClr val="1A6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309360" y="3995928"/>
            <a:ext cx="219456" cy="21945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18504" y="399592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11112" y="3913632"/>
            <a:ext cx="24688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GitHub Repository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611112" y="4123944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F77"/>
                </a:solidFill>
              </a:rPr>
              <a:t>https://github.com/mhgowda/healthcare-insurance-dw-capstone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2880" y="644652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6FC4"/>
                </a:solidFill>
              </a:rPr>
              <a:t>GitHub: https://github.com/mhgowda/healthcare-insurance-dw-capstone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0" y="0"/>
            <a:ext cx="2130552" cy="6858000"/>
          </a:xfrm>
          <a:prstGeom prst="rect">
            <a:avLst/>
          </a:prstGeom>
          <a:solidFill>
            <a:srgbClr val="1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9418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BFA5"/>
                </a:solidFill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840480"/>
            <a:ext cx="8229600" cy="54864"/>
          </a:xfrm>
          <a:prstGeom prst="rect">
            <a:avLst/>
          </a:prstGeom>
          <a:solidFill>
            <a:srgbClr val="FFB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F77"/>
                </a:solidFill>
              </a:rPr>
              <a:t>GitHub 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https://github.com/mhgowda/healthcare-insurance-dw-capstone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212080"/>
            <a:ext cx="2103120" cy="1234440"/>
          </a:xfrm>
          <a:prstGeom prst="rect">
            <a:avLst/>
          </a:prstGeom>
          <a:solidFill>
            <a:srgbClr val="1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2852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B300"/>
                </a:solidFill>
              </a:rPr>
              <a:t>1.4M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6F5"/>
                </a:solidFill>
              </a:rPr>
              <a:t>Source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5212080"/>
            <a:ext cx="2103120" cy="1234440"/>
          </a:xfrm>
          <a:prstGeom prst="rect">
            <a:avLst/>
          </a:prstGeom>
          <a:solidFill>
            <a:srgbClr val="1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52852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B300"/>
                </a:solidFill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6F5"/>
                </a:solidFill>
              </a:rPr>
              <a:t>DW Tables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5212080"/>
            <a:ext cx="2103120" cy="1234440"/>
          </a:xfrm>
          <a:prstGeom prst="rect">
            <a:avLst/>
          </a:prstGeom>
          <a:solidFill>
            <a:srgbClr val="1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52852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B300"/>
                </a:solidFill>
              </a:rPr>
              <a:t>17.9%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6F5"/>
                </a:solidFill>
              </a:rPr>
              <a:t>Rejected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5212080"/>
            <a:ext cx="2103120" cy="1234440"/>
          </a:xfrm>
          <a:prstGeom prst="rect">
            <a:avLst/>
          </a:prstGeom>
          <a:solidFill>
            <a:srgbClr val="1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52852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B300"/>
                </a:solidFill>
              </a:rPr>
              <a:t>49.9%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6F5"/>
                </a:solidFill>
              </a:rPr>
              <a:t>Denial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5212080"/>
            <a:ext cx="2103120" cy="1234440"/>
          </a:xfrm>
          <a:prstGeom prst="rect">
            <a:avLst/>
          </a:prstGeom>
          <a:solidFill>
            <a:srgbClr val="10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528523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B300"/>
                </a:solidFill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587044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BD6F5"/>
                </a:solidFill>
              </a:rPr>
              <a:t>Charts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10528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F77"/>
                </a:solidFill>
              </a:rPr>
              <a:t>Midterm Capstone  |  Group 5  |  Batch 2024-25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