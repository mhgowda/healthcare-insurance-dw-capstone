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A5"/>
                </a:solidFill>
              </a:rPr>
              <a:t>MIDTERM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Healthcare Insurance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BBD6F5"/>
                </a:solidFill>
              </a:rPr>
              <a:t>Claims Data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BBD6F5"/>
                </a:solidFill>
              </a:rPr>
              <a:t>&amp; Analytics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20"/>
            <a:ext cx="6858000" cy="5029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F77"/>
                </a:solidFill>
              </a:rPr>
              <a:t>SQL  |  Python  |  ETL Pipeline  |  Star Schema  |  Data Masking  | 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Group 5  |  Batch 2024-25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7"/>
                </a:solidFill>
              </a:rPr>
              <a:t>Midterm Capstone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188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300"/>
                </a:solidFill>
              </a:rPr>
              <a:t>1.4M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6F5"/>
                </a:solidFill>
              </a:rPr>
              <a:t>Source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60" y="2194560"/>
            <a:ext cx="1371600" cy="274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300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6F5"/>
                </a:solidFill>
              </a:rPr>
              <a:t>DW Tables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3566160"/>
            <a:ext cx="1371600" cy="274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3931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300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6F5"/>
                </a:solidFill>
              </a:rPr>
              <a:t>Charts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60" y="4937760"/>
            <a:ext cx="1371600" cy="274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End-to-end healthcare insurance claims data warehouse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68680"/>
            <a:ext cx="11640312" cy="1417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91440" cy="14173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14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FC4"/>
                </a:solidFill>
              </a:rPr>
              <a:t>Business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A2E"/>
                </a:solidFill>
              </a:rPr>
              <a:t>A national health insurer needs a centralized Data Warehouse to analyze claims costs, utilisation, provider performance and fraud indicators â€” while fully protecting patient privacy (PII/PHI). Source data arrives as 7 CSV files with ~1.4 million rows containing intentional quality issues including missing values, orphan foreign keys, and type mismatches.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2834640" cy="19202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283464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4963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496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Star Schema
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089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6FF"/>
                </a:solidFill>
              </a:rPr>
              <a:t>Model a DW with
dims + facts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68880"/>
            <a:ext cx="2834640" cy="19202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2468880"/>
            <a:ext cx="283464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24963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59" y="2496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ETL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1089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6FF"/>
                </a:solidFill>
              </a:rPr>
              <a:t>Full + Incremental
load with audit 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468880"/>
            <a:ext cx="2834640" cy="1920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468880"/>
            <a:ext cx="283464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4963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2496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Masking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1089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6FF"/>
                </a:solidFill>
              </a:rPr>
              <a:t>Protect PII/PHI
preserve join keys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2468880"/>
            <a:ext cx="2834640" cy="1920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2468880"/>
            <a:ext cx="283464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24963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496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
&amp; Charts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1089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6FF"/>
                </a:solidFill>
              </a:rPr>
              <a:t>SQL + Python +
8 Matplotlib charts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617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Technologies: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10912"/>
            <a:ext cx="22402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Python 3.10+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33472" y="5010912"/>
            <a:ext cx="2240280" cy="5029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92624" y="5010912"/>
            <a:ext cx="2240280" cy="5029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02352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SQLite / SQL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51776" y="5010912"/>
            <a:ext cx="224028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61504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Matplotlib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10928" y="5010912"/>
            <a:ext cx="224028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0656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Jupyter Notebook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6692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7"/>
                </a:solidFill>
              </a:rPr>
              <a:t>Dataset: 7 CSV files  |  ~1.4 Million rows  |  1.2M clean + 0.2M intentionally imperfect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Source Data  â€“  7 CSV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OLTP-style extracts from the insurance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262432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859536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CSV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822960"/>
            <a:ext cx="28986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859536"/>
            <a:ext cx="27797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822960"/>
            <a:ext cx="97840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859536"/>
            <a:ext cx="85953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822960"/>
            <a:ext cx="161848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859536"/>
            <a:ext cx="14996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Primary 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822960"/>
            <a:ext cx="317296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859536"/>
            <a:ext cx="3054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Columns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234440"/>
            <a:ext cx="2624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1271016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members_merged.csv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234440"/>
            <a:ext cx="289864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1271016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Patient/member master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234440"/>
            <a:ext cx="9784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1271016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2,60,000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234440"/>
            <a:ext cx="161848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1271016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234440"/>
            <a:ext cx="3172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1271016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name, DOB, email, phone, city,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728216"/>
            <a:ext cx="262432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1764792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providers_merged.csv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1728216"/>
            <a:ext cx="289864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7792" y="1764792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Doctors and hospitals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1728216"/>
            <a:ext cx="97840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1764792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1728216"/>
            <a:ext cx="161848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176479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provider_id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1728216"/>
            <a:ext cx="317296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1764792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specialty, city, state, tax_id, license_no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221992"/>
            <a:ext cx="2624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2258568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claims_merged.csv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2221992"/>
            <a:ext cx="289864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07792" y="2258568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Insurance claim headers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2221992"/>
            <a:ext cx="9784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33872" y="2258568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2,40,000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2221992"/>
            <a:ext cx="161848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9712" y="225856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2221992"/>
            <a:ext cx="3172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2258568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member_id, provider_id, admit_date, paid_amount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2715768"/>
            <a:ext cx="262432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" y="2752344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claim_lines_merged.csv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2715768"/>
            <a:ext cx="289864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07792" y="2752344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Services inside each claim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715768"/>
            <a:ext cx="97840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33872" y="2752344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7,60,000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2715768"/>
            <a:ext cx="161848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39712" y="2752344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line_id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2715768"/>
            <a:ext cx="317296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85632" y="2752344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claim_number, procedure_code, units, rate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3209544"/>
            <a:ext cx="2624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" y="3246120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payments_merged.csv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3209544"/>
            <a:ext cx="289864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07792" y="3246120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Payments on claims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3209544"/>
            <a:ext cx="9784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33872" y="3246120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1,00,000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3209544"/>
            <a:ext cx="161848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39712" y="32461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payment_id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3209544"/>
            <a:ext cx="3172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85632" y="3246120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claim_number, payment_date, paid_amount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703320"/>
            <a:ext cx="262432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032" y="3739896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diagnoses_merged.csv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4640" y="3703320"/>
            <a:ext cx="289864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07792" y="3739896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ICD diagnosis codes per claim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60720" y="3703320"/>
            <a:ext cx="97840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33872" y="3739896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60,000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3703320"/>
            <a:ext cx="161848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39712" y="3739896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diag_id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3703320"/>
            <a:ext cx="317296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85632" y="3739896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claim_number, diagnosis_code, icd_version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197096"/>
            <a:ext cx="2624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032" y="4233672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procedures_merged.csv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34640" y="4197096"/>
            <a:ext cx="289864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07792" y="4233672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CPT codes per claim line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60720" y="4197096"/>
            <a:ext cx="9784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33872" y="4233672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40,000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66560" y="4197096"/>
            <a:ext cx="161848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39712" y="423367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proc_id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12480" y="4197096"/>
            <a:ext cx="3172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85632" y="4233672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line_id, procedure_code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" y="4709160"/>
            <a:ext cx="262432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6032" y="4745736"/>
            <a:ext cx="25054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34640" y="4709160"/>
            <a:ext cx="289864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07792" y="4745736"/>
            <a:ext cx="27797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 source entities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60720" y="4709160"/>
            <a:ext cx="97840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33872" y="4745736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~14,00,000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66560" y="4709160"/>
            <a:ext cx="161848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39712" y="4745736"/>
            <a:ext cx="14996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â€”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412480" y="4709160"/>
            <a:ext cx="317296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85632" y="4745736"/>
            <a:ext cx="305409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1.2M clean + 0.2M imperfect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5321808"/>
            <a:ext cx="3840480" cy="475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2608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Missing Values: blank/NULL fields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60520" y="5321808"/>
            <a:ext cx="3840480" cy="4754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70248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Orphan FKs: __ORPHAN__ marker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38159" y="5321808"/>
            <a:ext cx="3840480" cy="47548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47887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Negative Amounts: invalid numbers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5870448"/>
            <a:ext cx="3840480" cy="47548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92608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Future Dates: impossible timestamps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60520" y="5870448"/>
            <a:ext cx="3840480" cy="4754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270248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Duplicate Keys: repeated IDs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138159" y="5870448"/>
            <a:ext cx="384048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47887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Type Mismatches: text in numbers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Entity Relationship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Source system table structures and foreign key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2" y="864108"/>
            <a:ext cx="3840480" cy="1677924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841248"/>
            <a:ext cx="3840480" cy="16779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841248"/>
            <a:ext cx="3840480" cy="2743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891540"/>
            <a:ext cx="370332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115568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111556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311" y="1152144"/>
            <a:ext cx="210312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1" y="1149400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152144"/>
            <a:ext cx="32004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115671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1312164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1312164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1348740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first_name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7832" y="135331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508760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508760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1545336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1549907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705356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" y="1705356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1741932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7832" y="1746504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1901952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4592" y="1901952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1938528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dob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7832" y="1943100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2098548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" y="209854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135124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city / 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27832" y="213969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" y="2295144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4592" y="2295144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2331720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is_active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7832" y="2336291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BOOLEAN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29100" y="864108"/>
            <a:ext cx="3840480" cy="1874519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06240" y="841248"/>
            <a:ext cx="384048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841248"/>
            <a:ext cx="3840480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79" y="891540"/>
            <a:ext cx="370332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CLAIMS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1115568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0" y="111556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51959" y="1152144"/>
            <a:ext cx="210312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51959" y="1149400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8848" y="1152144"/>
            <a:ext cx="32004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115671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1312164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06240" y="1312164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51959" y="1348740"/>
            <a:ext cx="210312" cy="12801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51959" y="1345996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98848" y="1348740"/>
            <a:ext cx="32004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9480" y="135331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1508760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06240" y="1508760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51959" y="1545336"/>
            <a:ext cx="210312" cy="12801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51959" y="1542592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8848" y="1545336"/>
            <a:ext cx="32004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provider_id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9480" y="1549907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06240" y="1705356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06240" y="1705356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79" y="1741932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admit_date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80" y="1746504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1901952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06240" y="1901952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79" y="1938528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discharge_date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9480" y="1943100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06240" y="2098548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06240" y="209854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7679" y="2135124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paid_amount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69480" y="213969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NUMERIC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06240" y="2295144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06240" y="2295144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97679" y="2331720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denial_code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69480" y="2336291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06240" y="2491739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06240" y="2491739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79" y="2528315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length_of_stay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69480" y="2532887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INT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70748" y="864108"/>
            <a:ext cx="3840480" cy="1481328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247888" y="841248"/>
            <a:ext cx="384048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47888" y="841248"/>
            <a:ext cx="38404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39327" y="891540"/>
            <a:ext cx="370332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47888" y="1115568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247888" y="111556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293608" y="1152144"/>
            <a:ext cx="210312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3608" y="1149400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40496" y="1152144"/>
            <a:ext cx="32004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payment_id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311128" y="115671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47888" y="1312164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247888" y="1312164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93608" y="1348740"/>
            <a:ext cx="210312" cy="12801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93608" y="1345996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40496" y="1348740"/>
            <a:ext cx="32004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311128" y="135331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47888" y="1508760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247888" y="1508760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39327" y="1545336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payment_date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311128" y="1549907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47888" y="1705356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247888" y="1705356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39327" y="1741932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payment_method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311128" y="1746504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47888" y="1901952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247888" y="1901952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339327" y="1938528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paid_amount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311128" y="1943100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NUMERIC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47888" y="2098548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247888" y="209854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39327" y="2135124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adjustment_code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311128" y="213969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7452" y="2921508"/>
            <a:ext cx="3840480" cy="1481328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64592" y="2898648"/>
            <a:ext cx="384048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64592" y="2898648"/>
            <a:ext cx="3840480" cy="2743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56032" y="2948940"/>
            <a:ext cx="370332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PROVIDERS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4592" y="3172968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64592" y="317296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10311" y="3209544"/>
            <a:ext cx="210312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1" y="3206800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" y="3209544"/>
            <a:ext cx="32004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provider_id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27832" y="3214115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64592" y="3369563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64592" y="3369563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56032" y="3406139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provider_name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27832" y="3410711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4592" y="3566160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64592" y="3566160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56032" y="3602736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specialty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227832" y="3607308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64592" y="3762756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64592" y="3762756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56032" y="3799332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city / state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27832" y="3803904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4592" y="3959352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64592" y="3959352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56032" y="3995928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tax_id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27832" y="4000500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64592" y="4155948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64592" y="415594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56032" y="4192524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license_no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227832" y="419709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229100" y="2921508"/>
            <a:ext cx="3840480" cy="1677924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206240" y="2898648"/>
            <a:ext cx="3840480" cy="16779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206240" y="2898648"/>
            <a:ext cx="3840480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297679" y="2948940"/>
            <a:ext cx="370332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CLAIM_LINES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206240" y="3172968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206240" y="317296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251959" y="3209544"/>
            <a:ext cx="210312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251959" y="3206800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498848" y="3209544"/>
            <a:ext cx="32004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line_id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269480" y="3214115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06240" y="3369563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206240" y="3369563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251959" y="3406139"/>
            <a:ext cx="210312" cy="12801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251959" y="3403396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98848" y="3406139"/>
            <a:ext cx="320040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269480" y="3410711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206240" y="3566160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206240" y="3566160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297679" y="3602736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service_date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269480" y="3607308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206240" y="3762756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06240" y="3762756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297679" y="3799332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procedure_code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269480" y="3803904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206240" y="3959352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206240" y="3959352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297679" y="3995928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units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269480" y="4000500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INT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206240" y="4155948"/>
            <a:ext cx="384048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206240" y="4155948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297679" y="4192524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rate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269480" y="419709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NUMERIC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206240" y="4352544"/>
            <a:ext cx="384048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206240" y="4352544"/>
            <a:ext cx="384048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297679" y="4389120"/>
            <a:ext cx="324612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line_amount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269480" y="43936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NUMERIC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270748" y="2921508"/>
            <a:ext cx="1874520" cy="1088136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47888" y="2898648"/>
            <a:ext cx="1874520" cy="1088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47888" y="2898648"/>
            <a:ext cx="1874520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339327" y="2948940"/>
            <a:ext cx="17373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DIAGNOSES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247888" y="3172968"/>
            <a:ext cx="187452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247888" y="3172968"/>
            <a:ext cx="187452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293608" y="3209544"/>
            <a:ext cx="210312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8293608" y="3206800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540496" y="3209544"/>
            <a:ext cx="1234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diag_id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345168" y="3214115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247888" y="3369563"/>
            <a:ext cx="187452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247888" y="3369563"/>
            <a:ext cx="187452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293608" y="3406139"/>
            <a:ext cx="210312" cy="12801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293608" y="3403396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540496" y="3406139"/>
            <a:ext cx="1234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345168" y="3410711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247888" y="3566160"/>
            <a:ext cx="187452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247888" y="3566160"/>
            <a:ext cx="187452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339327" y="3602736"/>
            <a:ext cx="12801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diag_code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345168" y="3607308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8247888" y="3762756"/>
            <a:ext cx="187452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247888" y="3762756"/>
            <a:ext cx="187452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339327" y="3799332"/>
            <a:ext cx="12801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icd_version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345168" y="3803904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0236708" y="2921508"/>
            <a:ext cx="1874520" cy="891540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213848" y="2898648"/>
            <a:ext cx="1874520" cy="8915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213848" y="2898648"/>
            <a:ext cx="1874520" cy="274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0305288" y="2948940"/>
            <a:ext cx="173736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PROCEDURES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0213848" y="3172968"/>
            <a:ext cx="187452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0213848" y="3172968"/>
            <a:ext cx="187452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0259568" y="3209544"/>
            <a:ext cx="210312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0259568" y="3206800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506456" y="3209544"/>
            <a:ext cx="1234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proc_id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1311128" y="3214115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0213848" y="3369563"/>
            <a:ext cx="1874520" cy="196596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0213848" y="3369563"/>
            <a:ext cx="187452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259568" y="3406139"/>
            <a:ext cx="210312" cy="12801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0259568" y="3403396"/>
            <a:ext cx="21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506456" y="3406139"/>
            <a:ext cx="123444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line_id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1311128" y="3410711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0213848" y="3566160"/>
            <a:ext cx="1874520" cy="196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0213848" y="3566160"/>
            <a:ext cx="1874520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305288" y="3602736"/>
            <a:ext cx="12801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procedure_code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1311128" y="3607308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4005072" y="1680210"/>
            <a:ext cx="201167" cy="2286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005072" y="3639312"/>
            <a:ext cx="73152" cy="228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078224" y="1778507"/>
            <a:ext cx="22860" cy="186080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078224" y="1778507"/>
            <a:ext cx="128015" cy="228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046720" y="1778507"/>
            <a:ext cx="201167" cy="228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126479" y="2715768"/>
            <a:ext cx="22860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8046720" y="1778507"/>
            <a:ext cx="1138427" cy="228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185148" y="1778507"/>
            <a:ext cx="22860" cy="11201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046720" y="3737610"/>
            <a:ext cx="2167127" cy="228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64592" y="841248"/>
            <a:ext cx="3840480" cy="896112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64592" y="841248"/>
            <a:ext cx="3840480" cy="2377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46888" y="877824"/>
            <a:ext cx="3730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LEGEND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46888" y="1115568"/>
            <a:ext cx="182880" cy="1280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75488" y="1115568"/>
            <a:ext cx="349300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PK - Primary Key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246888" y="1316736"/>
            <a:ext cx="182880" cy="12801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475488" y="1316736"/>
            <a:ext cx="349300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FK - Foreign Key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246888" y="1517904"/>
            <a:ext cx="182880" cy="12801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475488" y="1517904"/>
            <a:ext cx="349300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Line - Relationship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Star Schema  -  Data Warehouse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Fact tables (measures) connected to dimension tables (descriptors)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4708" y="824788"/>
            <a:ext cx="3547872" cy="1170432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804672"/>
            <a:ext cx="354787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804672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864108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86136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85039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dim_member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106527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" y="106527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09087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member_id  (PK)  masked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124358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" y="124358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126918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gender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142189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" y="142189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144749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city,  state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160020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" y="160020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162580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birth_year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778508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" y="177850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180411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is_active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97172" y="824788"/>
            <a:ext cx="3547872" cy="992124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77055" y="804672"/>
            <a:ext cx="3547872" cy="9921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77055" y="804672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1063" y="864108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41063" y="86136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85039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77055" y="106527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77055" y="106527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68495" y="109087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date_key  (PK)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77055" y="124358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77055" y="124358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8495" y="126918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year,  quarter,  month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77055" y="142189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77055" y="142189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8495" y="144749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month_name,  week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77055" y="160020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77055" y="160020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68495" y="162580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day_name,  is_weekend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09636" y="824788"/>
            <a:ext cx="3547872" cy="1170432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89519" y="804672"/>
            <a:ext cx="354787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89519" y="804672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53527" y="864108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53527" y="86136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74151" y="85039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dim_provider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19" y="106527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19" y="106527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59" y="109087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provider_id  (PK)  masked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19" y="124358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89519" y="124358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59" y="126918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specialty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19" y="142189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89519" y="142189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59" y="144749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city,  state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19" y="160020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19" y="160020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59" y="162580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tax_id  masked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19" y="1778508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589519" y="177850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59" y="180411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license_no  masked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4708" y="2717596"/>
            <a:ext cx="3547872" cy="1170432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4592" y="2697480"/>
            <a:ext cx="354787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4592" y="2697480"/>
            <a:ext cx="3547872" cy="260603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8600" y="2756916"/>
            <a:ext cx="365760" cy="1508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2754172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FACT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" y="2743200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fact_claim_line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4592" y="2958084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64592" y="295808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32" y="298368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line_id  (PK)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4592" y="3136392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64592" y="313639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032" y="316199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claim_number  (FK)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4592" y="3314700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4592" y="331470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6032" y="334030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service_date_key  (FK)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4592" y="3493008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4592" y="349300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" y="351861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procedure_code  (FK)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4592" y="367131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4592" y="367131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6032" y="369691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units,  rate,  line_amount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97172" y="2717596"/>
            <a:ext cx="3547872" cy="1527048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77055" y="2697480"/>
            <a:ext cx="3547872" cy="1527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877055" y="2697480"/>
            <a:ext cx="3547872" cy="260603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941063" y="2756916"/>
            <a:ext cx="365760" cy="1508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41063" y="2754172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FACT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61688" y="2743200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fact_claim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77055" y="2958084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877055" y="295808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68495" y="298368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claim_number  (PK)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77055" y="3136392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877055" y="313639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968495" y="316199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member_id  (FK)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77055" y="3314700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77055" y="331470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68495" y="334030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provider_id  (FK)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77055" y="3493008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877055" y="349300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968495" y="351861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admit_date_key  (FK)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77055" y="367131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877055" y="367131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68495" y="369691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length_of_stay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77055" y="384962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877055" y="384962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968495" y="387522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allowed_amount,  paid_amount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877055" y="402793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877055" y="402793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968495" y="405353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denial_code,  is_denied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609636" y="2717596"/>
            <a:ext cx="3547872" cy="1170432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589519" y="2697480"/>
            <a:ext cx="354787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589519" y="2697480"/>
            <a:ext cx="3547872" cy="260603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653527" y="2756916"/>
            <a:ext cx="365760" cy="1508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653527" y="2754172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FACT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74151" y="2743200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fact_payment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89519" y="2958084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589519" y="295808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680959" y="298368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payment_id  (PK)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589519" y="3136392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589519" y="313639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680959" y="316199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claim_number  (FK)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89519" y="3314700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589519" y="331470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80959" y="334030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payment_date_key  (FK)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589519" y="3493008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589519" y="349300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80959" y="351861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payment_method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89519" y="367131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589519" y="367131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80959" y="369691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paid_amount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4708" y="4756708"/>
            <a:ext cx="3547872" cy="635508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64592" y="4736592"/>
            <a:ext cx="3547872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64592" y="4736592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28600" y="4796028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28600" y="479328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9224" y="478231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dim_diagnosis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64592" y="499719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64592" y="499719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56032" y="502279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diagnosis_code  (PK)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4592" y="517550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64592" y="517550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56032" y="520110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icd_version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897172" y="4756708"/>
            <a:ext cx="3547872" cy="635508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877055" y="4736592"/>
            <a:ext cx="3547872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877055" y="4736592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941063" y="4796028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941063" y="479328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61688" y="478231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dim_location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877055" y="499719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877055" y="499719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968495" y="502279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location_key  (PK)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877055" y="517550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877055" y="517550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968495" y="520110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city,  state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609636" y="4756708"/>
            <a:ext cx="3547872" cy="457200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589519" y="4736592"/>
            <a:ext cx="3547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589519" y="4736592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653527" y="4796028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653527" y="479328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074151" y="478231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dim_procedure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19" y="499719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589519" y="499719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680959" y="502279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procedure_code  (PK)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938528" y="1975104"/>
            <a:ext cx="20116" cy="594359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938528" y="2569464"/>
            <a:ext cx="3712463" cy="20116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5650992" y="2569464"/>
            <a:ext cx="20116" cy="128016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5650992" y="1796795"/>
            <a:ext cx="20116" cy="900684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363455" y="1975104"/>
            <a:ext cx="20116" cy="594359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650992" y="2569464"/>
            <a:ext cx="3712463" cy="20116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712463" y="3282696"/>
            <a:ext cx="164591" cy="20116"/>
          </a:xfrm>
          <a:prstGeom prst="rect">
            <a:avLst/>
          </a:prstGeom>
          <a:solidFill>
            <a:srgbClr val="2C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424927" y="3461004"/>
            <a:ext cx="164591" cy="20116"/>
          </a:xfrm>
          <a:prstGeom prst="rect">
            <a:avLst/>
          </a:prstGeom>
          <a:solidFill>
            <a:srgbClr val="2C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938528" y="3867912"/>
            <a:ext cx="20116" cy="868679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5650992" y="4224528"/>
            <a:ext cx="20116" cy="512063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363455" y="3867912"/>
            <a:ext cx="20116" cy="868679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64592" y="6473952"/>
            <a:ext cx="11859768" cy="201168"/>
          </a:xfrm>
          <a:prstGeom prst="rect">
            <a:avLst/>
          </a:prstGeom>
          <a:solidFill>
            <a:srgbClr val="E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56032" y="6496812"/>
            <a:ext cx="182880" cy="13258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93776" y="649681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A2E"/>
                </a:solidFill>
              </a:rPr>
              <a:t>FACT - stores measurable data (amounts, counts)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233672" y="6496812"/>
            <a:ext cx="182880" cy="1325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471416" y="649681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A2E"/>
                </a:solidFill>
              </a:rPr>
              <a:t>DIM  - stores descriptive data (who, what, when)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211311" y="6496812"/>
            <a:ext cx="182880" cy="132588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449055" y="649681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A2E"/>
                </a:solidFill>
              </a:rPr>
              <a:t>Line - relationship between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ETL Pipeline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Extract  -&gt;  Profile  -&gt;  Clean  -&gt;  Mask  -&gt;  Load  -&gt;  Analyse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960120"/>
            <a:ext cx="1847088" cy="228600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Source
CSVs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7 files
1.4M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960120"/>
            <a:ext cx="1847088" cy="2286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Detect all
quality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step1_profile.py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960120"/>
            <a:ext cx="1847088" cy="2286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Clean &amp;
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Remove bad rows
Save rejects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step2_clean.py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960120"/>
            <a:ext cx="1847088" cy="2286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Mask
PII / PHI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Hash sensitive
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step3_mask.py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3023" y="960120"/>
            <a:ext cx="1847088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3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3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ETL
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3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Build schema
Load all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step4_load_full.py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6103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77272" y="960120"/>
            <a:ext cx="1847088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8711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1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Incremental
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1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New rows only
watermark-based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72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step5_incremental.py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703320"/>
            <a:ext cx="5623560" cy="2606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3703320"/>
            <a:ext cx="91440" cy="2606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767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935"/>
                </a:solidFill>
              </a:rPr>
              <a:t>FULL 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6052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A2E"/>
                </a:solidFill>
              </a:rPr>
              <a:t>-&gt; Drop all existing warehouse data
-&gt; Run DDL to recreate all tables
-&gt; Clean + mask + load all 1.4M rows
-&gt; Use when: first run or full refresh needed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3703320"/>
            <a:ext cx="5879592" cy="2606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0760" y="3703320"/>
            <a:ext cx="91440" cy="2606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3767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INCREMENTAL LOAD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160520"/>
            <a:ext cx="5486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A2E"/>
                </a:solidFill>
              </a:rPr>
              <a:t>-&gt; Read last_load_dt from etl_watermark table
-&gt; Filter CSV: rows where date &gt; last_load_dt
-&gt; Process and load ONLY those new rows
-&gt; Use when: daily/regular refresh needed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F77"/>
                </a:solidFill>
              </a:rPr>
              <a:t>Outputs: warehouse.db  |  rejected_rows/*.csv  |  logs/profiling_summary.json  |  logs/masking_audit.json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Quality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88952" cy="256032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30352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Issues identified during data profiling phase â€” 6 categories of bad data found in the source CSVs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749808"/>
            <a:ext cx="3200400" cy="457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841248"/>
            <a:ext cx="3813048" cy="267004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841248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905256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298448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Blank or NULL in required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828800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1883664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066544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first_name, email, city, diagnosis_code, specialty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035808"/>
            <a:ext cx="3630168" cy="384048"/>
          </a:xfrm>
          <a:prstGeom prst="rect">
            <a:avLst/>
          </a:prstGeom>
          <a:solidFill>
            <a:srgbClr val="0F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3090672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27,793 member rows  |  1,576 provider rows  |  3 diagnosis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2231" y="841248"/>
            <a:ext cx="3813048" cy="267004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2231" y="841248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7" y="905256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Orphan Foreign 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7" y="1298448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__ORPHAN__ marker where parent record is missing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1" y="1828800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7" y="1883664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7" y="2066544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member_id in claims, claim_number in payments/diagnoses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1" y="3035808"/>
            <a:ext cx="3630168" cy="384048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6823" y="3090672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30,000 orphan member_id  |  40,000 orphan claim_number in payments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9871" y="841248"/>
            <a:ext cx="3813048" cy="2670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1" y="841248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905256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Negative Amounts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1298448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Invalid negative values in financial columns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1311" y="1828800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1883664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2066544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allowed_amount, paid_amount, units, line_amount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11311" y="3035808"/>
            <a:ext cx="3630168" cy="384048"/>
          </a:xfrm>
          <a:prstGeom prst="rect">
            <a:avLst/>
          </a:prstGeom>
          <a:solidFill>
            <a:srgbClr val="BF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3" y="3090672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30,000 negative allowed_amount  |  110,000 negative units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" y="3675888"/>
            <a:ext cx="3813048" cy="2670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4592" y="3675888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" y="3739896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Future Dates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" y="4133088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Timestamps set in the future (impossible for past events)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" y="4663440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" y="4718304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" y="4901184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admit_date, service_date, dob, payment_date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5870448"/>
            <a:ext cx="3630168" cy="384048"/>
          </a:xfrm>
          <a:prstGeom prst="rect">
            <a:avLst/>
          </a:prstGeom>
          <a:solidFill>
            <a:srgbClr val="4A0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" y="5925312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22,880 future DOB  |  75 future admit_date  |  329 future service_date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42231" y="3675888"/>
            <a:ext cx="3813048" cy="267004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42231" y="3675888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0247" y="3739896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Duplicate Primary Keys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0247" y="4133088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Same primary key value appearing more than once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33671" y="4663440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70247" y="4718304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7" y="4901184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claim_number, member_id, provider_id, line_id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33671" y="5870448"/>
            <a:ext cx="3630168" cy="384048"/>
          </a:xfrm>
          <a:prstGeom prst="rect">
            <a:avLst/>
          </a:prstGeom>
          <a:solidFill>
            <a:srgbClr val="008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06823" y="5925312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7,500 duplicate claim_number  |  6,000 duplicate member_id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19871" y="3675888"/>
            <a:ext cx="3813048" cy="2670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19871" y="3675888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3739896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Mismatches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4133088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Text values found where numeric data is required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11311" y="4663440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47888" y="4718304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47888" y="4901184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paid_amount, rate, length_of_stay (LOS)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11311" y="5870448"/>
            <a:ext cx="3630168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84463" y="5925312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paid_amount = 'ERR'  |  rate = 'MISSING'  |  40,000+ rows affected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Cleaning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Validation applied entity-by-entity in dependency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41248"/>
            <a:ext cx="180136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877824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841248"/>
            <a:ext cx="116128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877824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841248"/>
            <a:ext cx="134416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877824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Valid (Kept)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841248"/>
            <a:ext cx="116128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877824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841248"/>
            <a:ext cx="79552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877824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841248"/>
            <a:ext cx="573328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877824"/>
            <a:ext cx="5614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Main Rejection Reasons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234440"/>
            <a:ext cx="18013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12710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12344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12710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2,60,000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234440"/>
            <a:ext cx="13441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12710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2,32,207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2344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12710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27,793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1234440"/>
            <a:ext cx="79552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3872" y="12710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10.7%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234440"/>
            <a:ext cx="5733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12710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Missing name, future DOB, duplicate 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1691640"/>
            <a:ext cx="18013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" y="17282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providers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16916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832" y="17282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1691640"/>
            <a:ext cx="13441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73552" y="17282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38,424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16916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5152" y="17282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1,576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1691640"/>
            <a:ext cx="79552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3872" y="17282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3.9%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1691640"/>
            <a:ext cx="5733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2" y="17282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Missing specialty, duplicate 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2148840"/>
            <a:ext cx="18013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21854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21488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84832" y="21854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2,40,000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2148840"/>
            <a:ext cx="13441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3552" y="21854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2,08,640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21488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45152" y="21854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31,360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148840"/>
            <a:ext cx="79552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33872" y="21854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13.1%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2148840"/>
            <a:ext cx="5733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56832" y="21854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member_id, negative amount, future date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606040"/>
            <a:ext cx="18013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" y="26426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claim_lines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0" y="26060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84832" y="26426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7,60,000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2606040"/>
            <a:ext cx="13441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73552" y="26426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6,45,733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26060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5152" y="26426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1,14,267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2606040"/>
            <a:ext cx="79552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33872" y="26426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15.0%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2606040"/>
            <a:ext cx="5733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26426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claim_number, negative units, bad rate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063240"/>
            <a:ext cx="18013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032" y="30998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payments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0" y="30632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84832" y="30998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1,00,000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0" y="3063240"/>
            <a:ext cx="13441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73552" y="30998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59,615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0" y="30632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45152" y="30998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40,385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60720" y="3063240"/>
            <a:ext cx="79552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33872" y="30998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40.4%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3680" y="3063240"/>
            <a:ext cx="5733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56832" y="30998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claim_number, non-numeric amount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3520440"/>
            <a:ext cx="18013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6032" y="35570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diagnoses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11680" y="35204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84832" y="35570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60,000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0" y="3520440"/>
            <a:ext cx="13441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73552" y="35570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39,741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0" y="35204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45152" y="35570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20,259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3520440"/>
            <a:ext cx="79552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33872" y="35570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33.8%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0" y="3520440"/>
            <a:ext cx="5733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56832" y="35570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claim_number, invalid ICD version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" y="3977639"/>
            <a:ext cx="18013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6032" y="4014215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procedures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11680" y="3977639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84832" y="4014215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40,000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0" y="3977639"/>
            <a:ext cx="13441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73552" y="4014215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24,844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72000" y="3977639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645152" y="4014215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15,156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760720" y="3977639"/>
            <a:ext cx="79552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833872" y="4014215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37.9%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83680" y="3977639"/>
            <a:ext cx="5733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656832" y="4014215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line_id, missing procedure code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4462272"/>
            <a:ext cx="180136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56032" y="4498848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11680" y="4462272"/>
            <a:ext cx="116128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84832" y="4498848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14,00,000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0" y="4462272"/>
            <a:ext cx="134416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73552" y="4498848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12,49,204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0" y="4462272"/>
            <a:ext cx="116128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645152" y="4498848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2,50,796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0720" y="4462272"/>
            <a:ext cx="79552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33872" y="4498848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17.9%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583680" y="4462272"/>
            <a:ext cx="573328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56832" y="4498848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All quality issues combined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5029200"/>
            <a:ext cx="2834640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5120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12,49,204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5779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Valid Rows Loaded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172968" y="5029200"/>
            <a:ext cx="2834640" cy="1508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10128" y="5120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2,50,796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64408" y="5779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Rows Rejected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163056" y="5029200"/>
            <a:ext cx="2834640" cy="1508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300216" y="5120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17.9%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54496" y="5779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Overall Reject Rate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53144" y="5029200"/>
            <a:ext cx="2834640" cy="150876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90304" y="5120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7 files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244584" y="5779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Audit CSVs Saved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Masking  â€“  PII / PHI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Deterministic HMAC-SHA256 tokenisation applied before warehouse loading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841248"/>
            <a:ext cx="5577840" cy="12344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841248"/>
            <a:ext cx="73152" cy="12344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914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FC4"/>
                </a:solidFill>
              </a:rPr>
              <a:t>Why Masking?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128016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A2E"/>
                </a:solidFill>
              </a:rPr>
              <a:t>Analysts querying the warehouse must never see real patient names, emails, phone numbers or exact dates of birth. Masking protects privacy while keeping all analytical relationships intact.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841248"/>
            <a:ext cx="5943600" cy="12344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841248"/>
            <a:ext cx="73152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91440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How It Works  â€”  HMAC-SHA256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280160"/>
            <a:ext cx="5715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A2E"/>
                </a:solidFill>
              </a:rPr>
              <a:t>DETERMINISTIC: same input always produces the same token (JOINs work)
IRREVERSIBLE: cannot be decoded back to the original value
SALT: a secret key makes tokens unique to this project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240280"/>
            <a:ext cx="180136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276856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240280"/>
            <a:ext cx="152704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4832" y="2276856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240280"/>
            <a:ext cx="198424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2276856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Technique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240280"/>
            <a:ext cx="299008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2276856"/>
            <a:ext cx="2871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Before (Raw)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240280"/>
            <a:ext cx="280720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2276856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After (Masked)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633472"/>
            <a:ext cx="180136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267004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2633472"/>
            <a:ext cx="15270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4832" y="2670048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2633472"/>
            <a:ext cx="19842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267004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2633472"/>
            <a:ext cx="29900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2670048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M0000001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2633472"/>
            <a:ext cx="28072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267004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MBR3F9A2C1D4E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035808"/>
            <a:ext cx="180136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3072384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first_name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3035808"/>
            <a:ext cx="15270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84832" y="3072384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3035808"/>
            <a:ext cx="19842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3072384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035808"/>
            <a:ext cx="299008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50992" y="3072384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Alice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3035808"/>
            <a:ext cx="280720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68512" y="3072384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FN8B2C3D4E5F6A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438144"/>
            <a:ext cx="180136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" y="347472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email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3438144"/>
            <a:ext cx="15270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2" y="3474720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3438144"/>
            <a:ext cx="19842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9312" y="3474720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3438144"/>
            <a:ext cx="29900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50992" y="3474720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alice@gmail.com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3438144"/>
            <a:ext cx="28072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68512" y="3474720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EMAIF29A3B1C2D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3840480"/>
            <a:ext cx="180136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" y="3877056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phone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0" y="3840480"/>
            <a:ext cx="15270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84832" y="3877056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3840480"/>
            <a:ext cx="19842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39312" y="3877056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3840480"/>
            <a:ext cx="299008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50992" y="3877056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9876543210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60" y="3840480"/>
            <a:ext cx="280720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68512" y="3877056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PH8A2B3C4D5E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242816"/>
            <a:ext cx="180136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" y="4279392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dob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1680" y="4242816"/>
            <a:ext cx="15270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84832" y="4279392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66160" y="4242816"/>
            <a:ext cx="19842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39312" y="4279392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Year only (generalise)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77840" y="4242816"/>
            <a:ext cx="29900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279392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1985-03-10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4242816"/>
            <a:ext cx="28072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68512" y="4279392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1985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4645152"/>
            <a:ext cx="180136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6032" y="468172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tax_id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1680" y="4645152"/>
            <a:ext cx="15270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84832" y="4681728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providers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66160" y="4645152"/>
            <a:ext cx="19842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39312" y="468172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77840" y="4645152"/>
            <a:ext cx="299008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50992" y="4681728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908430420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95360" y="4645152"/>
            <a:ext cx="280720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68512" y="468172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TAX2B3C4D5E6F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" y="5047488"/>
            <a:ext cx="180136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56032" y="5084064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11680" y="5047488"/>
            <a:ext cx="15270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84832" y="5084064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66160" y="5047488"/>
            <a:ext cx="19842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39312" y="5084064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577840" y="5047488"/>
            <a:ext cx="29900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50992" y="5084064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CL00155929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5047488"/>
            <a:ext cx="28072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68512" y="5084064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CLM4E5F6A7B8C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5449824"/>
            <a:ext cx="180136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56032" y="548640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city / state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11680" y="5449824"/>
            <a:ext cx="152704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84832" y="5486400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566160" y="5449824"/>
            <a:ext cx="198424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639312" y="5486400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Kept as-is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77840" y="5449824"/>
            <a:ext cx="299008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50992" y="5486400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Mumbai, Maharashtra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95360" y="5449824"/>
            <a:ext cx="280720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68512" y="5486400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Mumbai, Maharashtra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2880" y="608076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Fields kept clear: city, state, gender, specialty, procedure_code, diagnosis_code, amounts, payment_method, dates (non-DOB)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Analytical SQL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10 business questions answered from the warehouse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94360" cy="9601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9784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Total Claims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53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COUNT, SUM, AVG on fact_claim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91440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914400"/>
            <a:ext cx="594360" cy="9601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9784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Monthly Paid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353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JOIN fact_claim + dim_date, GROUP BY year/month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1168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2011680"/>
            <a:ext cx="59436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075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Top 10 Procedures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4505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GROUP BY procedure_code ORDER BY COUNT(*)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01168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011680"/>
            <a:ext cx="59436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2075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Provider Scorecard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24505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JOIN dim_provider, AVG paid, denial_rate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10896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3108960"/>
            <a:ext cx="594360" cy="9601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1729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Denial Rate Breakdown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5478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CASE WHEN denial_code, GROUP BY denial_reason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10896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108960"/>
            <a:ext cx="594360" cy="960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31729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Length of Stay Dist.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35478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GROUP BY length_of_stay, AVG paid_amount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20624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4206240"/>
            <a:ext cx="59436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4297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2702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Member Utilisation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645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JOIN dim_member, SUM paid, ORDER BY spend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20624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206240"/>
            <a:ext cx="594360" cy="9601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4297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2008" y="42702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Geographic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22008" y="4645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JOIN dim_member on city/state, SUM by state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530352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2880" y="5303520"/>
            <a:ext cx="594360" cy="9601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" y="5394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" y="5367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Payment Method Split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" y="574243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GROUP BY payment_method, SUM paid_amount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530352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72200" y="5303520"/>
            <a:ext cx="59436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5394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22008" y="5367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Diagnosis Cost Analysis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2008" y="574243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Link diagnoses to claims, cost by ICD code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" y="644652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7"/>
                </a:solidFill>
              </a:rPr>
              <a:t>All queries run against the live SQLite warehouse via Python / Jupyter Notebook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Business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Live results from the warehouse after full ETL 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2834640" cy="1920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2770632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24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Total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316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2,08,640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914400"/>
            <a:ext cx="2834640" cy="19202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2968" y="2770632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024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Total Allowed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1316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Rs 20.9B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billed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914400"/>
            <a:ext cx="2834640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2770632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024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Total Paid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1316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Rs 15.68B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paid 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914400"/>
            <a:ext cx="2834640" cy="19202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2770632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4" y="1024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Avg per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1316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Rs 75,156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average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200400"/>
            <a:ext cx="2834640" cy="19202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5056631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310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Denial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3602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49.92%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claims denied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72968" y="3200400"/>
            <a:ext cx="2834640" cy="1920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72968" y="5056631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310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Top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2696" y="3602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Punjab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highest spend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3056" y="3200400"/>
            <a:ext cx="2834640" cy="1920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5056631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216" y="3310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Top Procedure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3602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CPT35289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417 uses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53144" y="3200400"/>
            <a:ext cx="2834640" cy="19202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53144" y="5056631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90304" y="3310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Payment Methods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3602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 types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equal split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" y="589788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7"/>
                </a:solidFill>
              </a:rPr>
              <a:t>Source: warehouse.db  |  208,640 valid claims  |  ~12.5 million total rows across all tables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Analytics Visualizations  â€“  Part 1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Monthly trend  |  Top procedures  |  Denial rate  |  Length of stay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41248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41248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87782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Monthly Paid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1521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Consistent ~Rs 540M/month</a:t>
            </a:r>
          </a:p>
        </p:txBody>
      </p:sp>
      <p:pic>
        <p:nvPicPr>
          <p:cNvPr id="12" name="Picture 11" descr="01_monthly_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408176"/>
            <a:ext cx="5687568" cy="20299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90488" y="841248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841248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87782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Top 10 Procedures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1521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CPT35289 highest at 417 uses</a:t>
            </a:r>
          </a:p>
        </p:txBody>
      </p:sp>
      <p:pic>
        <p:nvPicPr>
          <p:cNvPr id="17" name="Picture 16" descr="02_top_proced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08176"/>
            <a:ext cx="5687568" cy="202996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749039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749039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78561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Denial Rate by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05993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49.9% denied â€” D001/D002/D003</a:t>
            </a:r>
          </a:p>
        </p:txBody>
      </p:sp>
      <p:pic>
        <p:nvPicPr>
          <p:cNvPr id="22" name="Picture 21" descr="04_denial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315968"/>
            <a:ext cx="5687568" cy="202996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90488" y="3749039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749039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378561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Length of Stay (0-30 days)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05993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Flat distribution across LOS</a:t>
            </a:r>
          </a:p>
        </p:txBody>
      </p:sp>
      <p:pic>
        <p:nvPicPr>
          <p:cNvPr id="27" name="Picture 26" descr="05_los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315968"/>
            <a:ext cx="5687568" cy="20299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Analytics Visualizations  â€“  Part 2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Provider performance  |  Geographic  |  Member utilisation  |  Payment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41248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41248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87782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Provider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1521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Some providers &gt;60% denial rate</a:t>
            </a:r>
          </a:p>
        </p:txBody>
      </p:sp>
      <p:pic>
        <p:nvPicPr>
          <p:cNvPr id="12" name="Picture 11" descr="03_provider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408176"/>
            <a:ext cx="5687568" cy="20299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90488" y="841248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841248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87782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Paid by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1521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Punjab &amp; Odisha lead</a:t>
            </a:r>
          </a:p>
        </p:txBody>
      </p:sp>
      <p:pic>
        <p:nvPicPr>
          <p:cNvPr id="17" name="Picture 16" descr="07_ge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08176"/>
            <a:ext cx="5687568" cy="202996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749039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749039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78561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Member Utilisation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05993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High-spend members by gender</a:t>
            </a:r>
          </a:p>
        </p:txBody>
      </p:sp>
      <p:pic>
        <p:nvPicPr>
          <p:cNvPr id="22" name="Picture 21" descr="06_member_utili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315968"/>
            <a:ext cx="5687568" cy="202996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90488" y="3749039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749039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378561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Payment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05993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NEFT/UPI/RTGS/Cheque equal split</a:t>
            </a:r>
          </a:p>
        </p:txBody>
      </p:sp>
      <p:pic>
        <p:nvPicPr>
          <p:cNvPr id="27" name="Picture 26" descr="08_payment_metho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315968"/>
            <a:ext cx="5687568" cy="20299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Database indexes + vectorised Pandas + masking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41248"/>
            <a:ext cx="5623560" cy="3154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41248"/>
            <a:ext cx="91440" cy="315468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896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FC4"/>
                </a:solidFill>
              </a:rPr>
              <a:t>Database Indexes  (in DDL)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1892808" cy="2926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316736"/>
            <a:ext cx="1773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280160"/>
            <a:ext cx="1801368" cy="2926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9152" y="13167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280160"/>
            <a:ext cx="1389888" cy="2926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1316736"/>
            <a:ext cx="1271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Column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1056"/>
            <a:ext cx="189280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62763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idx_fc_member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1591056"/>
            <a:ext cx="180136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162763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591056"/>
            <a:ext cx="13898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87952" y="162763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865376"/>
            <a:ext cx="189280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190195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idx_fc_provider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865376"/>
            <a:ext cx="180136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9152" y="190195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1865376"/>
            <a:ext cx="138988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190195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provider_id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139696"/>
            <a:ext cx="189280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17627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idx_fc_admit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2139696"/>
            <a:ext cx="180136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9152" y="217627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2139696"/>
            <a:ext cx="13898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87952" y="217627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admit_date_key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414015"/>
            <a:ext cx="189280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2450591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idx_fc_denied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2414015"/>
            <a:ext cx="180136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9152" y="2450591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2414015"/>
            <a:ext cx="138988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87952" y="2450591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is_denied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688336"/>
            <a:ext cx="189280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72491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idx_fcl_claim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2688336"/>
            <a:ext cx="180136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59152" y="272491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fact_claim_line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2688336"/>
            <a:ext cx="13898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87952" y="272491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962656"/>
            <a:ext cx="189280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299923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idx_fp_claim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2962656"/>
            <a:ext cx="180136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59152" y="299923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fact_payment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2962656"/>
            <a:ext cx="138988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87952" y="299923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236976"/>
            <a:ext cx="189280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327355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idx_dp_specialty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3236976"/>
            <a:ext cx="180136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59152" y="327355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dim_provider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3236976"/>
            <a:ext cx="13898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87952" y="327355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specialty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841248"/>
            <a:ext cx="5989320" cy="3154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89320" y="841248"/>
            <a:ext cx="91440" cy="3154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8961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Vectorised Pandas Operations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1298448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2" y="1325880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pd.to_numeric(col, errors='coerce')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99632" y="1517904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Converts entire column at once â€” no row loops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80" y="1773936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99632" y="180136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pd.to_datetime(col, errors='coerce')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9632" y="1993391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Parses all dates in single operation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0" y="2249424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99632" y="2276856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df[boolean_mask]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9632" y="2468880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Filters millions of rows instantly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0" y="2724912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99632" y="2752344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Series.map(dictionary)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99632" y="294436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Remaps FK columns â€” 100x faster than apply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3200400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99632" y="322783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pd.concat + drop_duplicates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9632" y="3419856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Deduplication across full entity datasets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4160520"/>
            <a:ext cx="11795760" cy="14173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82880" y="4160520"/>
            <a:ext cx="91440" cy="14173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42245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7C00"/>
                </a:solidFill>
              </a:rPr>
              <a:t>Masking Impact on Analytics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46177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A2E"/>
                </a:solidFill>
              </a:rPr>
              <a:t>Deterministic masking means member_id 'M0000001' ALWAYS becomes 'MBR3F9A2C1D4E'  -&gt;  JOINs between fact_claim, dim_member and dim_provider work correctly.
City/state kept clear  -&gt;  geographic analysis fully functional.   DOB -&gt; birth_year  -&gt;  age band analysis still possible.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" y="5742432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7"/>
                </a:solidFill>
              </a:rPr>
              <a:t>Full ETL run: ~3-5 min on laptop  |  Incremental: seconds  |  Warehouse: 9 tables, ~12.5M rows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All required outputs per the capstone 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6868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68680"/>
            <a:ext cx="73152" cy="43891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978407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978407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89611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Star Schema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1064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01_star_schema_ddl.sql â€” 9 tables with FK indexes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86868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868680"/>
            <a:ext cx="73152" cy="43891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978407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978407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89611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ER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11064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Entity relationships across all 7 source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37160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1371600"/>
            <a:ext cx="73152" cy="43891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148132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148132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139903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Analytical SQL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160934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02_analytical_queries.sql â€” 10 business queries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37160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371600"/>
            <a:ext cx="73152" cy="4389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48132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148132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139903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Data Profiling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160934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logs/profiling_summary.json â€” quality findings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1874519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1874519"/>
            <a:ext cx="73152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198424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198424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1901951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ETL Full Load 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211226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step4_load_full.py â€” drops + reloads everything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874519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1874519"/>
            <a:ext cx="73152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198424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18504" y="198424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1901951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ETL Incremental 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1112" y="211226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step5_load_incremental.py â€” watermark-based new rows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237744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2377440"/>
            <a:ext cx="73152" cy="4389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248716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248716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240487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Data Masking Logic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261518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step3_mask.py â€” HMAC-SHA256 deterministic hashing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237744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2377440"/>
            <a:ext cx="73152" cy="4389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248716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8504" y="248716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1112" y="240487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Masking Audit 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261518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logs/masking_audit.json â€” fields masked + counts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88036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880360"/>
            <a:ext cx="73152" cy="43891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299008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299008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290779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Error / Rejection Logs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" y="311810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output/rejected_rows/*.csv â€” 7 audit files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288036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72200" y="2880360"/>
            <a:ext cx="73152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09360" y="299008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18504" y="299008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11112" y="290779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Python Analytics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1112" y="311810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analytics.py â€” 9 queries + CSV results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38328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82880" y="3383280"/>
            <a:ext cx="73152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0040" y="349300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349300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" y="341071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8 Matplotlib Charts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" y="36210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output/charts/*.png â€” all visualisations saved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338328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72200" y="3383280"/>
            <a:ext cx="73152" cy="43891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09360" y="349300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18504" y="349300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11112" y="341071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Jupyter Notebook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11112" y="36210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analytics_notebook.ipynb â€” interactive analysis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388620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82880" y="3886200"/>
            <a:ext cx="73152" cy="4389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0040" y="399592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9184" y="399592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" y="391363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Optimisation Summary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" y="412394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Indexes + vectorised Pandas + masking impact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72200" y="388620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72200" y="3886200"/>
            <a:ext cx="73152" cy="43891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09360" y="399592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18504" y="399592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11112" y="391363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GitHub Repository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11112" y="412394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https://github.com/mhgowda/healthcare-insurance-dw-capstone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2880" y="644652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6FC4"/>
                </a:solidFill>
              </a:rPr>
              <a:t>GitHub: https://github.com/mhgowda/healthcare-insurance-dw-capstone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FA5"/>
                </a:solidFill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40480"/>
            <a:ext cx="822960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F77"/>
                </a:solidFill>
              </a:rPr>
              <a:t>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https://github.com/mhgowda/healthcare-insurance-dw-capstone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1.4M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Source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DW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17.9%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Rejected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49.9%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Denial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7"/>
                </a:solidFill>
              </a:rPr>
              <a:t>Midterm Capstone  |  Group 5  |  Batch 2024-25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